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nva Sans" panose="020B0604020202020204" charset="0"/>
      <p:regular r:id="rId11"/>
    </p:embeddedFont>
    <p:embeddedFont>
      <p:font typeface="Canva Sans Bold" panose="020B0604020202020204" charset="0"/>
      <p:regular r:id="rId12"/>
    </p:embeddedFont>
    <p:embeddedFont>
      <p:font typeface="Trebuchet MS" panose="020B0603020202020204" pitchFamily="34" charset="0"/>
      <p:regular r:id="rId13"/>
      <p:bold r:id="rId14"/>
      <p:italic r:id="rId15"/>
      <p:boldItalic r:id="rId16"/>
    </p:embeddedFont>
    <p:embeddedFont>
      <p:font typeface="Trebuchet MS Bold" panose="020B0703020202020204" pitchFamily="34" charset="0"/>
      <p:regular r:id="rId17"/>
      <p:bold r:id="rId18"/>
    </p:embeddedFont>
    <p:embeddedFont>
      <p:font typeface="Trebuchet MS Bold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0609" autoAdjust="0"/>
    <p:restoredTop sz="94622" autoAdjust="0"/>
  </p:normalViewPr>
  <p:slideViewPr>
    <p:cSldViewPr>
      <p:cViewPr varScale="1">
        <p:scale>
          <a:sx n="52" d="100"/>
          <a:sy n="52" d="100"/>
        </p:scale>
        <p:origin x="145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.png"/><Relationship Id="rId4" Type="http://schemas.openxmlformats.org/officeDocument/2006/relationships/image" Target="../media/image2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5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99066" y="9534525"/>
            <a:ext cx="4114800" cy="547688"/>
            <a:chOff x="0" y="0"/>
            <a:chExt cx="5486400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chemeClr val="bg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lIns="0" tIns="0" rIns="0" bIns="0" rtlCol="0" anchor="ctr"/>
            <a:lstStyle/>
            <a:p>
              <a:pPr algn="r">
                <a:lnSpc>
                  <a:spcPts val="3240"/>
                </a:lnSpc>
              </a:pPr>
              <a:r>
                <a:rPr lang="en-US" sz="2700">
                  <a:solidFill>
                    <a:srgbClr val="30017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5453" y="1672249"/>
            <a:ext cx="7595984" cy="3577302"/>
            <a:chOff x="0" y="0"/>
            <a:chExt cx="15712440" cy="73997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712442" cy="7399717"/>
            </a:xfrm>
            <a:custGeom>
              <a:avLst/>
              <a:gdLst/>
              <a:ahLst/>
              <a:cxnLst/>
              <a:rect l="l" t="t" r="r" b="b"/>
              <a:pathLst>
                <a:path w="15712442" h="7399717">
                  <a:moveTo>
                    <a:pt x="0" y="0"/>
                  </a:moveTo>
                  <a:lnTo>
                    <a:pt x="15712442" y="0"/>
                  </a:lnTo>
                  <a:lnTo>
                    <a:pt x="15712442" y="7399717"/>
                  </a:lnTo>
                  <a:lnTo>
                    <a:pt x="0" y="73997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chemeClr val="bg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66675"/>
              <a:ext cx="15712440" cy="733304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lIns="0" tIns="0" rIns="0" bIns="0" rtlCol="0" anchor="ctr"/>
            <a:lstStyle/>
            <a:p>
              <a:pPr algn="l">
                <a:lnSpc>
                  <a:spcPts val="7343"/>
                </a:lnSpc>
              </a:pPr>
              <a:r>
                <a:rPr lang="en-US" sz="6799" b="1">
                  <a:solidFill>
                    <a:srgbClr val="30017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AI Personal Productivity Agent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5887700" y="5249551"/>
            <a:ext cx="2235289" cy="2158603"/>
          </a:xfrm>
          <a:custGeom>
            <a:avLst/>
            <a:gdLst/>
            <a:ahLst/>
            <a:cxnLst/>
            <a:rect l="l" t="t" r="r" b="b"/>
            <a:pathLst>
              <a:path w="2235289" h="2158603">
                <a:moveTo>
                  <a:pt x="0" y="0"/>
                </a:moveTo>
                <a:lnTo>
                  <a:pt x="2235289" y="0"/>
                </a:lnTo>
                <a:lnTo>
                  <a:pt x="2235289" y="2158603"/>
                </a:lnTo>
                <a:lnTo>
                  <a:pt x="0" y="2158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14" b="-1614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858500" y="5818403"/>
            <a:ext cx="4514850" cy="1020899"/>
          </a:xfrm>
          <a:custGeom>
            <a:avLst/>
            <a:gdLst/>
            <a:ahLst/>
            <a:cxnLst/>
            <a:rect l="l" t="t" r="r" b="b"/>
            <a:pathLst>
              <a:path w="4514850" h="1020899">
                <a:moveTo>
                  <a:pt x="0" y="0"/>
                </a:moveTo>
                <a:lnTo>
                  <a:pt x="4514850" y="0"/>
                </a:lnTo>
                <a:lnTo>
                  <a:pt x="4514850" y="1020899"/>
                </a:lnTo>
                <a:lnTo>
                  <a:pt x="0" y="1020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05453" y="3007081"/>
            <a:ext cx="8338547" cy="2136419"/>
            <a:chOff x="0" y="0"/>
            <a:chExt cx="2196161" cy="5626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6161" cy="562678"/>
            </a:xfrm>
            <a:custGeom>
              <a:avLst/>
              <a:gdLst/>
              <a:ahLst/>
              <a:cxnLst/>
              <a:rect l="l" t="t" r="r" b="b"/>
              <a:pathLst>
                <a:path w="2196161" h="562678">
                  <a:moveTo>
                    <a:pt x="0" y="0"/>
                  </a:moveTo>
                  <a:lnTo>
                    <a:pt x="2196161" y="0"/>
                  </a:lnTo>
                  <a:lnTo>
                    <a:pt x="2196161" y="562678"/>
                  </a:lnTo>
                  <a:lnTo>
                    <a:pt x="0" y="562678"/>
                  </a:lnTo>
                  <a:close/>
                </a:path>
              </a:pathLst>
            </a:custGeom>
            <a:solidFill>
              <a:srgbClr val="300176">
                <a:alpha val="3922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96161" cy="60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05453" y="5438679"/>
            <a:ext cx="496621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AMULATE HACKATHON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5453" y="6659057"/>
            <a:ext cx="9469687" cy="285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96"/>
              </a:lnSpc>
            </a:pPr>
            <a:r>
              <a:rPr lang="en-US" sz="3037" b="1" dirty="0">
                <a:solidFill>
                  <a:srgbClr val="30017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Team Name:</a:t>
            </a:r>
            <a:r>
              <a:rPr lang="en-US" sz="303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Team </a:t>
            </a:r>
            <a:r>
              <a:rPr lang="en-US" sz="3037" dirty="0" err="1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Forcus</a:t>
            </a:r>
            <a:endParaRPr lang="en-US" sz="3037" dirty="0">
              <a:solidFill>
                <a:srgbClr val="30017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lnSpc>
                <a:spcPts val="3796"/>
              </a:lnSpc>
            </a:pPr>
            <a:r>
              <a:rPr lang="en-US" sz="3037" b="1" dirty="0">
                <a:solidFill>
                  <a:srgbClr val="30017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Presenter Names:</a:t>
            </a:r>
            <a:r>
              <a:rPr lang="en-US" sz="303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Ahmad Zakariya</a:t>
            </a:r>
          </a:p>
          <a:p>
            <a:pPr algn="just">
              <a:lnSpc>
                <a:spcPts val="3796"/>
              </a:lnSpc>
            </a:pPr>
            <a:r>
              <a:rPr lang="en-US" sz="3037" b="1" dirty="0">
                <a:solidFill>
                  <a:srgbClr val="30017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Challenge:</a:t>
            </a:r>
            <a:r>
              <a:rPr lang="en-US" sz="303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BMW - Develop an AI assistant that helps users plan their day or manage tasks by integrating reasoning with tools</a:t>
            </a:r>
          </a:p>
          <a:p>
            <a:pPr algn="just">
              <a:lnSpc>
                <a:spcPts val="3796"/>
              </a:lnSpc>
            </a:pPr>
            <a:r>
              <a:rPr lang="en-US" sz="3037" b="1" dirty="0">
                <a:solidFill>
                  <a:srgbClr val="30017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December 30, 2025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309"/>
    </mc:Choice>
    <mc:Fallback xmlns="">
      <p:transition spd="slow" advTm="2830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5410" y="934974"/>
            <a:ext cx="3774985" cy="1299227"/>
            <a:chOff x="0" y="0"/>
            <a:chExt cx="5033314" cy="17323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33314" cy="1732302"/>
            </a:xfrm>
            <a:custGeom>
              <a:avLst/>
              <a:gdLst/>
              <a:ahLst/>
              <a:cxnLst/>
              <a:rect l="l" t="t" r="r" b="b"/>
              <a:pathLst>
                <a:path w="5033314" h="1732302">
                  <a:moveTo>
                    <a:pt x="0" y="0"/>
                  </a:moveTo>
                  <a:lnTo>
                    <a:pt x="5033314" y="0"/>
                  </a:lnTo>
                  <a:lnTo>
                    <a:pt x="5033314" y="1732302"/>
                  </a:lnTo>
                  <a:lnTo>
                    <a:pt x="0" y="17323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chemeClr val="bg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5033314" cy="166562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lIns="0" tIns="0" rIns="0" bIns="0" rtlCol="0" anchor="ctr"/>
            <a:lstStyle/>
            <a:p>
              <a:pPr algn="l">
                <a:lnSpc>
                  <a:spcPts val="7559"/>
                </a:lnSpc>
              </a:pPr>
              <a:r>
                <a:rPr lang="en-US" sz="6999" b="1">
                  <a:solidFill>
                    <a:srgbClr val="30017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Agenda</a:t>
              </a:r>
            </a:p>
          </p:txBody>
        </p:sp>
      </p:grpSp>
      <p:sp>
        <p:nvSpPr>
          <p:cNvPr id="5" name="Freeform 5" descr="Brainstorm with solid fill"/>
          <p:cNvSpPr/>
          <p:nvPr/>
        </p:nvSpPr>
        <p:spPr>
          <a:xfrm>
            <a:off x="969527" y="2773073"/>
            <a:ext cx="405883" cy="405883"/>
          </a:xfrm>
          <a:custGeom>
            <a:avLst/>
            <a:gdLst/>
            <a:ahLst/>
            <a:cxnLst/>
            <a:rect l="l" t="t" r="r" b="b"/>
            <a:pathLst>
              <a:path w="405883" h="405883">
                <a:moveTo>
                  <a:pt x="0" y="0"/>
                </a:moveTo>
                <a:lnTo>
                  <a:pt x="405883" y="0"/>
                </a:lnTo>
                <a:lnTo>
                  <a:pt x="405883" y="405883"/>
                </a:lnTo>
                <a:lnTo>
                  <a:pt x="0" y="4058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Scuba diving with solid fill"/>
          <p:cNvSpPr/>
          <p:nvPr/>
        </p:nvSpPr>
        <p:spPr>
          <a:xfrm>
            <a:off x="969527" y="3770851"/>
            <a:ext cx="405883" cy="405883"/>
          </a:xfrm>
          <a:custGeom>
            <a:avLst/>
            <a:gdLst/>
            <a:ahLst/>
            <a:cxnLst/>
            <a:rect l="l" t="t" r="r" b="b"/>
            <a:pathLst>
              <a:path w="405883" h="405883">
                <a:moveTo>
                  <a:pt x="0" y="0"/>
                </a:moveTo>
                <a:lnTo>
                  <a:pt x="405883" y="0"/>
                </a:lnTo>
                <a:lnTo>
                  <a:pt x="405883" y="405883"/>
                </a:lnTo>
                <a:lnTo>
                  <a:pt x="0" y="4058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 descr="Priorities with solid fill"/>
          <p:cNvSpPr/>
          <p:nvPr/>
        </p:nvSpPr>
        <p:spPr>
          <a:xfrm>
            <a:off x="969527" y="3281038"/>
            <a:ext cx="387731" cy="387731"/>
          </a:xfrm>
          <a:custGeom>
            <a:avLst/>
            <a:gdLst/>
            <a:ahLst/>
            <a:cxnLst/>
            <a:rect l="l" t="t" r="r" b="b"/>
            <a:pathLst>
              <a:path w="387731" h="387731">
                <a:moveTo>
                  <a:pt x="0" y="0"/>
                </a:moveTo>
                <a:lnTo>
                  <a:pt x="387731" y="0"/>
                </a:lnTo>
                <a:lnTo>
                  <a:pt x="387731" y="387731"/>
                </a:lnTo>
                <a:lnTo>
                  <a:pt x="0" y="3877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 descr="Aspiration with solid fill"/>
          <p:cNvSpPr/>
          <p:nvPr/>
        </p:nvSpPr>
        <p:spPr>
          <a:xfrm>
            <a:off x="969527" y="4744120"/>
            <a:ext cx="405883" cy="405883"/>
          </a:xfrm>
          <a:custGeom>
            <a:avLst/>
            <a:gdLst/>
            <a:ahLst/>
            <a:cxnLst/>
            <a:rect l="l" t="t" r="r" b="b"/>
            <a:pathLst>
              <a:path w="405883" h="405883">
                <a:moveTo>
                  <a:pt x="0" y="0"/>
                </a:moveTo>
                <a:lnTo>
                  <a:pt x="405883" y="0"/>
                </a:lnTo>
                <a:lnTo>
                  <a:pt x="405883" y="405883"/>
                </a:lnTo>
                <a:lnTo>
                  <a:pt x="0" y="4058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 descr="Presentation with media with solid fill"/>
          <p:cNvSpPr/>
          <p:nvPr/>
        </p:nvSpPr>
        <p:spPr>
          <a:xfrm>
            <a:off x="969527" y="4278815"/>
            <a:ext cx="363224" cy="363224"/>
          </a:xfrm>
          <a:custGeom>
            <a:avLst/>
            <a:gdLst/>
            <a:ahLst/>
            <a:cxnLst/>
            <a:rect l="l" t="t" r="r" b="b"/>
            <a:pathLst>
              <a:path w="363224" h="363224">
                <a:moveTo>
                  <a:pt x="0" y="0"/>
                </a:moveTo>
                <a:lnTo>
                  <a:pt x="363224" y="0"/>
                </a:lnTo>
                <a:lnTo>
                  <a:pt x="363224" y="363224"/>
                </a:lnTo>
                <a:lnTo>
                  <a:pt x="0" y="3632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4542332" y="-281888"/>
            <a:ext cx="3814248" cy="10796612"/>
            <a:chOff x="0" y="0"/>
            <a:chExt cx="1004576" cy="28435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4576" cy="2843552"/>
            </a:xfrm>
            <a:custGeom>
              <a:avLst/>
              <a:gdLst/>
              <a:ahLst/>
              <a:cxnLst/>
              <a:rect l="l" t="t" r="r" b="b"/>
              <a:pathLst>
                <a:path w="1004576" h="2843552">
                  <a:moveTo>
                    <a:pt x="0" y="0"/>
                  </a:moveTo>
                  <a:lnTo>
                    <a:pt x="1004576" y="0"/>
                  </a:lnTo>
                  <a:lnTo>
                    <a:pt x="1004576" y="2843552"/>
                  </a:lnTo>
                  <a:lnTo>
                    <a:pt x="0" y="2843552"/>
                  </a:lnTo>
                  <a:close/>
                </a:path>
              </a:pathLst>
            </a:custGeom>
            <a:solidFill>
              <a:srgbClr val="300176">
                <a:alpha val="4706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04576" cy="2881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258800" y="9603105"/>
            <a:ext cx="4023360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44538" y="2687883"/>
            <a:ext cx="17039738" cy="2561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7083" lvl="1" indent="-368541" algn="l">
              <a:lnSpc>
                <a:spcPts val="5086"/>
              </a:lnSpc>
              <a:buAutoNum type="arabicPeriod"/>
            </a:pPr>
            <a:r>
              <a:rPr lang="en-US" sz="3414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 we are trying to solve and why it matters</a:t>
            </a:r>
          </a:p>
          <a:p>
            <a:pPr marL="737083" lvl="1" indent="-368541" algn="l">
              <a:lnSpc>
                <a:spcPts val="3721"/>
              </a:lnSpc>
              <a:buAutoNum type="arabicPeriod"/>
            </a:pPr>
            <a:r>
              <a:rPr lang="en-US" sz="3414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Our idea: </a:t>
            </a:r>
            <a:r>
              <a:rPr lang="en-US" sz="3414" b="1" i="1">
                <a:solidFill>
                  <a:srgbClr val="300176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U-Dot AI</a:t>
            </a:r>
            <a:r>
              <a:rPr lang="en-US" sz="3414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, an agentic productivity assistant</a:t>
            </a:r>
          </a:p>
          <a:p>
            <a:pPr marL="737083" lvl="1" indent="-368541" algn="l">
              <a:lnSpc>
                <a:spcPts val="3721"/>
              </a:lnSpc>
              <a:buAutoNum type="arabicPeriod"/>
            </a:pPr>
            <a:r>
              <a:rPr lang="en-US" sz="3414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How the productivity agent works (architecture &amp; reasoning)</a:t>
            </a:r>
          </a:p>
          <a:p>
            <a:pPr marL="737083" lvl="1" indent="-368541" algn="l">
              <a:lnSpc>
                <a:spcPts val="3721"/>
              </a:lnSpc>
              <a:buAutoNum type="arabicPeriod"/>
            </a:pPr>
            <a:r>
              <a:rPr lang="en-US" sz="3414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Live demo: U-Dot AI in action</a:t>
            </a:r>
          </a:p>
          <a:p>
            <a:pPr marL="737083" lvl="1" indent="-368541" algn="l">
              <a:lnSpc>
                <a:spcPts val="3721"/>
              </a:lnSpc>
              <a:buAutoNum type="arabicPeriod"/>
            </a:pPr>
            <a:r>
              <a:rPr lang="en-US" sz="3414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Conclusion, impact, and future scopes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687432" y="424524"/>
            <a:ext cx="2257425" cy="510450"/>
          </a:xfrm>
          <a:custGeom>
            <a:avLst/>
            <a:gdLst/>
            <a:ahLst/>
            <a:cxnLst/>
            <a:rect l="l" t="t" r="r" b="b"/>
            <a:pathLst>
              <a:path w="2257425" h="510450">
                <a:moveTo>
                  <a:pt x="0" y="0"/>
                </a:moveTo>
                <a:lnTo>
                  <a:pt x="2257425" y="0"/>
                </a:lnTo>
                <a:lnTo>
                  <a:pt x="2257425" y="510450"/>
                </a:lnTo>
                <a:lnTo>
                  <a:pt x="0" y="510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901"/>
    </mc:Choice>
    <mc:Fallback xmlns="">
      <p:transition spd="slow" advTm="2190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25088" y="329332"/>
            <a:ext cx="16341090" cy="1659016"/>
            <a:chOff x="0" y="0"/>
            <a:chExt cx="21788120" cy="2846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88123" cy="2846070"/>
            </a:xfrm>
            <a:custGeom>
              <a:avLst/>
              <a:gdLst/>
              <a:ahLst/>
              <a:cxnLst/>
              <a:rect l="l" t="t" r="r" b="b"/>
              <a:pathLst>
                <a:path w="21788123" h="2846070">
                  <a:moveTo>
                    <a:pt x="0" y="0"/>
                  </a:moveTo>
                  <a:lnTo>
                    <a:pt x="21788123" y="0"/>
                  </a:lnTo>
                  <a:lnTo>
                    <a:pt x="21788123" y="2846070"/>
                  </a:lnTo>
                  <a:lnTo>
                    <a:pt x="0" y="2846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chemeClr val="bg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57150"/>
              <a:ext cx="21788120" cy="2788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30017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Problem Statement and Motivation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2614426" y="2386926"/>
            <a:ext cx="1083965" cy="1086993"/>
          </a:xfrm>
          <a:custGeom>
            <a:avLst/>
            <a:gdLst/>
            <a:ahLst/>
            <a:cxnLst/>
            <a:rect l="l" t="t" r="r" b="b"/>
            <a:pathLst>
              <a:path w="1083965" h="1086993">
                <a:moveTo>
                  <a:pt x="0" y="0"/>
                </a:moveTo>
                <a:lnTo>
                  <a:pt x="1083965" y="0"/>
                </a:lnTo>
                <a:lnTo>
                  <a:pt x="1083965" y="1086992"/>
                </a:lnTo>
                <a:lnTo>
                  <a:pt x="0" y="1086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804573" y="3464393"/>
            <a:ext cx="2703671" cy="662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spc="7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Motivation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298945" y="4102568"/>
            <a:ext cx="5868386" cy="5510062"/>
            <a:chOff x="0" y="0"/>
            <a:chExt cx="1545583" cy="14512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45583" cy="1451210"/>
            </a:xfrm>
            <a:custGeom>
              <a:avLst/>
              <a:gdLst/>
              <a:ahLst/>
              <a:cxnLst/>
              <a:rect l="l" t="t" r="r" b="b"/>
              <a:pathLst>
                <a:path w="1545583" h="1451210">
                  <a:moveTo>
                    <a:pt x="67282" y="0"/>
                  </a:moveTo>
                  <a:lnTo>
                    <a:pt x="1478301" y="0"/>
                  </a:lnTo>
                  <a:cubicBezTo>
                    <a:pt x="1515460" y="0"/>
                    <a:pt x="1545583" y="30123"/>
                    <a:pt x="1545583" y="67282"/>
                  </a:cubicBezTo>
                  <a:lnTo>
                    <a:pt x="1545583" y="1383927"/>
                  </a:lnTo>
                  <a:cubicBezTo>
                    <a:pt x="1545583" y="1421086"/>
                    <a:pt x="1515460" y="1451210"/>
                    <a:pt x="1478301" y="1451210"/>
                  </a:cubicBezTo>
                  <a:lnTo>
                    <a:pt x="67282" y="1451210"/>
                  </a:lnTo>
                  <a:cubicBezTo>
                    <a:pt x="30123" y="1451210"/>
                    <a:pt x="0" y="1421086"/>
                    <a:pt x="0" y="1383927"/>
                  </a:cubicBezTo>
                  <a:lnTo>
                    <a:pt x="0" y="67282"/>
                  </a:lnTo>
                  <a:cubicBezTo>
                    <a:pt x="0" y="30123"/>
                    <a:pt x="30123" y="0"/>
                    <a:pt x="67282" y="0"/>
                  </a:cubicBezTo>
                  <a:close/>
                </a:path>
              </a:pathLst>
            </a:custGeom>
            <a:solidFill>
              <a:srgbClr val="300176">
                <a:alpha val="9804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545583" cy="1489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38406" y="4102568"/>
            <a:ext cx="5868386" cy="5510062"/>
            <a:chOff x="0" y="0"/>
            <a:chExt cx="1545583" cy="14512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45583" cy="1451210"/>
            </a:xfrm>
            <a:custGeom>
              <a:avLst/>
              <a:gdLst/>
              <a:ahLst/>
              <a:cxnLst/>
              <a:rect l="l" t="t" r="r" b="b"/>
              <a:pathLst>
                <a:path w="1545583" h="1451210">
                  <a:moveTo>
                    <a:pt x="67282" y="0"/>
                  </a:moveTo>
                  <a:lnTo>
                    <a:pt x="1478301" y="0"/>
                  </a:lnTo>
                  <a:cubicBezTo>
                    <a:pt x="1515460" y="0"/>
                    <a:pt x="1545583" y="30123"/>
                    <a:pt x="1545583" y="67282"/>
                  </a:cubicBezTo>
                  <a:lnTo>
                    <a:pt x="1545583" y="1383927"/>
                  </a:lnTo>
                  <a:cubicBezTo>
                    <a:pt x="1545583" y="1421086"/>
                    <a:pt x="1515460" y="1451210"/>
                    <a:pt x="1478301" y="1451210"/>
                  </a:cubicBezTo>
                  <a:lnTo>
                    <a:pt x="67282" y="1451210"/>
                  </a:lnTo>
                  <a:cubicBezTo>
                    <a:pt x="30123" y="1451210"/>
                    <a:pt x="0" y="1421086"/>
                    <a:pt x="0" y="1383927"/>
                  </a:cubicBezTo>
                  <a:lnTo>
                    <a:pt x="0" y="67282"/>
                  </a:lnTo>
                  <a:cubicBezTo>
                    <a:pt x="0" y="30123"/>
                    <a:pt x="30123" y="0"/>
                    <a:pt x="67282" y="0"/>
                  </a:cubicBezTo>
                  <a:close/>
                </a:path>
              </a:pathLst>
            </a:custGeom>
            <a:solidFill>
              <a:srgbClr val="300176">
                <a:alpha val="9804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545583" cy="1489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5687432" y="424524"/>
            <a:ext cx="2257425" cy="510450"/>
          </a:xfrm>
          <a:custGeom>
            <a:avLst/>
            <a:gdLst/>
            <a:ahLst/>
            <a:cxnLst/>
            <a:rect l="l" t="t" r="r" b="b"/>
            <a:pathLst>
              <a:path w="2257425" h="510450">
                <a:moveTo>
                  <a:pt x="0" y="0"/>
                </a:moveTo>
                <a:lnTo>
                  <a:pt x="2257425" y="0"/>
                </a:lnTo>
                <a:lnTo>
                  <a:pt x="2257425" y="510450"/>
                </a:lnTo>
                <a:lnTo>
                  <a:pt x="0" y="510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627351" y="2386926"/>
            <a:ext cx="1086993" cy="1086993"/>
          </a:xfrm>
          <a:custGeom>
            <a:avLst/>
            <a:gdLst/>
            <a:ahLst/>
            <a:cxnLst/>
            <a:rect l="l" t="t" r="r" b="b"/>
            <a:pathLst>
              <a:path w="1086993" h="1086993">
                <a:moveTo>
                  <a:pt x="0" y="0"/>
                </a:moveTo>
                <a:lnTo>
                  <a:pt x="1086993" y="0"/>
                </a:lnTo>
                <a:lnTo>
                  <a:pt x="1086993" y="1086992"/>
                </a:lnTo>
                <a:lnTo>
                  <a:pt x="0" y="10869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628421" y="3464393"/>
            <a:ext cx="3084853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23"/>
              </a:lnSpc>
            </a:pPr>
            <a:r>
              <a:rPr lang="en-US" sz="4186" spc="17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102257" y="9603105"/>
            <a:ext cx="179903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5088" y="1451774"/>
            <a:ext cx="16341090" cy="69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the Problem and Why are we solving it?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98945" y="4293585"/>
            <a:ext cx="5743804" cy="505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543" lvl="1" indent="-264772" algn="l">
              <a:lnSpc>
                <a:spcPts val="3679"/>
              </a:lnSpc>
              <a:buFont typeface="Arial"/>
              <a:buChar char="•"/>
            </a:pPr>
            <a:r>
              <a:rPr lang="en-US" sz="2452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Knowledge workers juggle multiple tasks and context switches daily</a:t>
            </a:r>
          </a:p>
          <a:p>
            <a:pPr marL="529543" lvl="1" indent="-264772" algn="l">
              <a:lnSpc>
                <a:spcPts val="3679"/>
              </a:lnSpc>
              <a:buFont typeface="Arial"/>
              <a:buChar char="•"/>
            </a:pPr>
            <a:r>
              <a:rPr lang="en-US" sz="2452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Most productivity tools rely on static to-do lists</a:t>
            </a:r>
          </a:p>
          <a:p>
            <a:pPr marL="529543" lvl="1" indent="-264772" algn="l">
              <a:lnSpc>
                <a:spcPts val="3679"/>
              </a:lnSpc>
              <a:buFont typeface="Arial"/>
              <a:buChar char="•"/>
            </a:pPr>
            <a:r>
              <a:rPr lang="en-US" sz="2452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Real-world constraints like time, effort, and priority are ignored</a:t>
            </a:r>
          </a:p>
          <a:p>
            <a:pPr marL="529543" lvl="1" indent="-264772" algn="l">
              <a:lnSpc>
                <a:spcPts val="3679"/>
              </a:lnSpc>
              <a:buFont typeface="Arial"/>
              <a:buChar char="•"/>
            </a:pPr>
            <a:r>
              <a:rPr lang="en-US" sz="2452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Users must manually decide what to do next</a:t>
            </a:r>
          </a:p>
          <a:p>
            <a:pPr marL="529543" lvl="1" indent="-264772" algn="l">
              <a:lnSpc>
                <a:spcPts val="3679"/>
              </a:lnSpc>
              <a:buFont typeface="Arial"/>
              <a:buChar char="•"/>
            </a:pPr>
            <a:r>
              <a:rPr lang="en-US" sz="2452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This leads to poor prioritization and overloaded schedules</a:t>
            </a:r>
          </a:p>
          <a:p>
            <a:pPr algn="l">
              <a:lnSpc>
                <a:spcPts val="3679"/>
              </a:lnSpc>
            </a:pPr>
            <a:endParaRPr lang="en-US" sz="2452">
              <a:solidFill>
                <a:srgbClr val="30017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491397" y="4323833"/>
            <a:ext cx="5330023" cy="502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8954" lvl="1" indent="-264477" algn="l">
              <a:lnSpc>
                <a:spcPts val="3674"/>
              </a:lnSpc>
              <a:buFont typeface="Arial"/>
              <a:buChar char="•"/>
            </a:pPr>
            <a:r>
              <a:rPr lang="en-US" sz="2449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Productivity should be guided by reasoning, not just reminders</a:t>
            </a:r>
          </a:p>
          <a:p>
            <a:pPr marL="528954" lvl="1" indent="-264477" algn="l">
              <a:lnSpc>
                <a:spcPts val="3674"/>
              </a:lnSpc>
              <a:buFont typeface="Arial"/>
              <a:buChar char="•"/>
            </a:pPr>
            <a:r>
              <a:rPr lang="en-US" sz="2449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Users should interact using natural language</a:t>
            </a:r>
          </a:p>
          <a:p>
            <a:pPr marL="528954" lvl="1" indent="-264477" algn="l">
              <a:lnSpc>
                <a:spcPts val="3674"/>
              </a:lnSpc>
              <a:buFont typeface="Arial"/>
              <a:buChar char="•"/>
            </a:pPr>
            <a:r>
              <a:rPr lang="en-US" sz="2449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Planning must consider time, priorities, and constraints</a:t>
            </a:r>
          </a:p>
          <a:p>
            <a:pPr marL="528954" lvl="1" indent="-264477" algn="l">
              <a:lnSpc>
                <a:spcPts val="3674"/>
              </a:lnSpc>
              <a:buFont typeface="Arial"/>
              <a:buChar char="•"/>
            </a:pPr>
            <a:r>
              <a:rPr lang="en-US" sz="2449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The system should act using tools, not just reply with text</a:t>
            </a:r>
          </a:p>
          <a:p>
            <a:pPr marL="528954" lvl="1" indent="-264477" algn="l">
              <a:lnSpc>
                <a:spcPts val="3674"/>
              </a:lnSpc>
              <a:buFont typeface="Arial"/>
              <a:buChar char="•"/>
            </a:pPr>
            <a:r>
              <a:rPr lang="en-US" sz="2449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Goal: build a true agent, not another to-do app</a:t>
            </a:r>
          </a:p>
          <a:p>
            <a:pPr algn="l">
              <a:lnSpc>
                <a:spcPts val="3674"/>
              </a:lnSpc>
            </a:pPr>
            <a:endParaRPr lang="en-US" sz="2449">
              <a:solidFill>
                <a:srgbClr val="30017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217"/>
    </mc:Choice>
    <mc:Fallback xmlns="">
      <p:transition spd="slow" advTm="4021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4847" y="114300"/>
            <a:ext cx="16912590" cy="1897666"/>
            <a:chOff x="0" y="0"/>
            <a:chExt cx="22550120" cy="28494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50123" cy="2849497"/>
            </a:xfrm>
            <a:custGeom>
              <a:avLst/>
              <a:gdLst/>
              <a:ahLst/>
              <a:cxnLst/>
              <a:rect l="l" t="t" r="r" b="b"/>
              <a:pathLst>
                <a:path w="22550123" h="2849497">
                  <a:moveTo>
                    <a:pt x="0" y="0"/>
                  </a:moveTo>
                  <a:lnTo>
                    <a:pt x="22550123" y="0"/>
                  </a:lnTo>
                  <a:lnTo>
                    <a:pt x="22550123" y="2849497"/>
                  </a:lnTo>
                  <a:lnTo>
                    <a:pt x="0" y="28494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chemeClr val="bg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2550120" cy="279234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30017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Solution Overview</a:t>
              </a:r>
            </a:p>
          </p:txBody>
        </p:sp>
      </p:grpSp>
      <p:sp>
        <p:nvSpPr>
          <p:cNvPr id="5" name="Freeform 5" descr="Greek Temple with solid fill"/>
          <p:cNvSpPr/>
          <p:nvPr/>
        </p:nvSpPr>
        <p:spPr>
          <a:xfrm>
            <a:off x="13914466" y="2999827"/>
            <a:ext cx="2003577" cy="2003577"/>
          </a:xfrm>
          <a:custGeom>
            <a:avLst/>
            <a:gdLst/>
            <a:ahLst/>
            <a:cxnLst/>
            <a:rect l="l" t="t" r="r" b="b"/>
            <a:pathLst>
              <a:path w="2003577" h="2003577">
                <a:moveTo>
                  <a:pt x="0" y="0"/>
                </a:moveTo>
                <a:lnTo>
                  <a:pt x="2003577" y="0"/>
                </a:lnTo>
                <a:lnTo>
                  <a:pt x="2003577" y="2003577"/>
                </a:lnTo>
                <a:lnTo>
                  <a:pt x="0" y="2003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larm clock with solid fill"/>
          <p:cNvSpPr/>
          <p:nvPr/>
        </p:nvSpPr>
        <p:spPr>
          <a:xfrm>
            <a:off x="1942170" y="2999827"/>
            <a:ext cx="2003577" cy="2003577"/>
          </a:xfrm>
          <a:custGeom>
            <a:avLst/>
            <a:gdLst/>
            <a:ahLst/>
            <a:cxnLst/>
            <a:rect l="l" t="t" r="r" b="b"/>
            <a:pathLst>
              <a:path w="2003577" h="2003577">
                <a:moveTo>
                  <a:pt x="0" y="0"/>
                </a:moveTo>
                <a:lnTo>
                  <a:pt x="2003577" y="0"/>
                </a:lnTo>
                <a:lnTo>
                  <a:pt x="2003577" y="2003577"/>
                </a:lnTo>
                <a:lnTo>
                  <a:pt x="0" y="20035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 descr="Good Idea with solid fill"/>
          <p:cNvSpPr/>
          <p:nvPr/>
        </p:nvSpPr>
        <p:spPr>
          <a:xfrm>
            <a:off x="8009354" y="3197716"/>
            <a:ext cx="2003577" cy="2003577"/>
          </a:xfrm>
          <a:custGeom>
            <a:avLst/>
            <a:gdLst/>
            <a:ahLst/>
            <a:cxnLst/>
            <a:rect l="l" t="t" r="r" b="b"/>
            <a:pathLst>
              <a:path w="2003577" h="2003577">
                <a:moveTo>
                  <a:pt x="0" y="0"/>
                </a:moveTo>
                <a:lnTo>
                  <a:pt x="2003577" y="0"/>
                </a:lnTo>
                <a:lnTo>
                  <a:pt x="2003577" y="2003577"/>
                </a:lnTo>
                <a:lnTo>
                  <a:pt x="0" y="2003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8" name="Group 8"/>
          <p:cNvGrpSpPr/>
          <p:nvPr/>
        </p:nvGrpSpPr>
        <p:grpSpPr>
          <a:xfrm>
            <a:off x="498437" y="2189763"/>
            <a:ext cx="5383218" cy="3623704"/>
            <a:chOff x="0" y="0"/>
            <a:chExt cx="1417802" cy="9543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17802" cy="954391"/>
            </a:xfrm>
            <a:custGeom>
              <a:avLst/>
              <a:gdLst/>
              <a:ahLst/>
              <a:cxnLst/>
              <a:rect l="l" t="t" r="r" b="b"/>
              <a:pathLst>
                <a:path w="1417802" h="954391">
                  <a:moveTo>
                    <a:pt x="73346" y="0"/>
                  </a:moveTo>
                  <a:lnTo>
                    <a:pt x="1344456" y="0"/>
                  </a:lnTo>
                  <a:cubicBezTo>
                    <a:pt x="1384964" y="0"/>
                    <a:pt x="1417802" y="32838"/>
                    <a:pt x="1417802" y="73346"/>
                  </a:cubicBezTo>
                  <a:lnTo>
                    <a:pt x="1417802" y="881045"/>
                  </a:lnTo>
                  <a:cubicBezTo>
                    <a:pt x="1417802" y="921553"/>
                    <a:pt x="1384964" y="954391"/>
                    <a:pt x="1344456" y="954391"/>
                  </a:cubicBezTo>
                  <a:lnTo>
                    <a:pt x="73346" y="954391"/>
                  </a:lnTo>
                  <a:cubicBezTo>
                    <a:pt x="53893" y="954391"/>
                    <a:pt x="35238" y="946664"/>
                    <a:pt x="21483" y="932909"/>
                  </a:cubicBezTo>
                  <a:cubicBezTo>
                    <a:pt x="7728" y="919153"/>
                    <a:pt x="0" y="900498"/>
                    <a:pt x="0" y="881045"/>
                  </a:cubicBezTo>
                  <a:lnTo>
                    <a:pt x="0" y="73346"/>
                  </a:lnTo>
                  <a:cubicBezTo>
                    <a:pt x="0" y="32838"/>
                    <a:pt x="32838" y="0"/>
                    <a:pt x="73346" y="0"/>
                  </a:cubicBezTo>
                  <a:close/>
                </a:path>
              </a:pathLst>
            </a:custGeom>
            <a:solidFill>
              <a:srgbClr val="300176">
                <a:alpha val="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17802" cy="992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48667" y="2189763"/>
            <a:ext cx="5253990" cy="3623704"/>
            <a:chOff x="0" y="0"/>
            <a:chExt cx="1383767" cy="9543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3767" cy="954391"/>
            </a:xfrm>
            <a:custGeom>
              <a:avLst/>
              <a:gdLst/>
              <a:ahLst/>
              <a:cxnLst/>
              <a:rect l="l" t="t" r="r" b="b"/>
              <a:pathLst>
                <a:path w="1383767" h="954391">
                  <a:moveTo>
                    <a:pt x="75150" y="0"/>
                  </a:moveTo>
                  <a:lnTo>
                    <a:pt x="1308617" y="0"/>
                  </a:lnTo>
                  <a:cubicBezTo>
                    <a:pt x="1350121" y="0"/>
                    <a:pt x="1383767" y="33646"/>
                    <a:pt x="1383767" y="75150"/>
                  </a:cubicBezTo>
                  <a:lnTo>
                    <a:pt x="1383767" y="879241"/>
                  </a:lnTo>
                  <a:cubicBezTo>
                    <a:pt x="1383767" y="920745"/>
                    <a:pt x="1350121" y="954391"/>
                    <a:pt x="1308617" y="954391"/>
                  </a:cubicBezTo>
                  <a:lnTo>
                    <a:pt x="75150" y="954391"/>
                  </a:lnTo>
                  <a:cubicBezTo>
                    <a:pt x="55219" y="954391"/>
                    <a:pt x="36104" y="946474"/>
                    <a:pt x="22011" y="932380"/>
                  </a:cubicBezTo>
                  <a:cubicBezTo>
                    <a:pt x="7918" y="918287"/>
                    <a:pt x="0" y="899172"/>
                    <a:pt x="0" y="879241"/>
                  </a:cubicBezTo>
                  <a:lnTo>
                    <a:pt x="0" y="75150"/>
                  </a:lnTo>
                  <a:cubicBezTo>
                    <a:pt x="0" y="33646"/>
                    <a:pt x="33646" y="0"/>
                    <a:pt x="75150" y="0"/>
                  </a:cubicBezTo>
                  <a:close/>
                </a:path>
              </a:pathLst>
            </a:custGeom>
            <a:solidFill>
              <a:srgbClr val="300176">
                <a:alpha val="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83767" cy="992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269669" y="2189763"/>
            <a:ext cx="5293171" cy="3623704"/>
            <a:chOff x="0" y="0"/>
            <a:chExt cx="1394086" cy="9543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94086" cy="954391"/>
            </a:xfrm>
            <a:custGeom>
              <a:avLst/>
              <a:gdLst/>
              <a:ahLst/>
              <a:cxnLst/>
              <a:rect l="l" t="t" r="r" b="b"/>
              <a:pathLst>
                <a:path w="1394086" h="954391">
                  <a:moveTo>
                    <a:pt x="74594" y="0"/>
                  </a:moveTo>
                  <a:lnTo>
                    <a:pt x="1319492" y="0"/>
                  </a:lnTo>
                  <a:cubicBezTo>
                    <a:pt x="1360689" y="0"/>
                    <a:pt x="1394086" y="33397"/>
                    <a:pt x="1394086" y="74594"/>
                  </a:cubicBezTo>
                  <a:lnTo>
                    <a:pt x="1394086" y="879797"/>
                  </a:lnTo>
                  <a:cubicBezTo>
                    <a:pt x="1394086" y="920994"/>
                    <a:pt x="1360689" y="954391"/>
                    <a:pt x="1319492" y="954391"/>
                  </a:cubicBezTo>
                  <a:lnTo>
                    <a:pt x="74594" y="954391"/>
                  </a:lnTo>
                  <a:cubicBezTo>
                    <a:pt x="33397" y="954391"/>
                    <a:pt x="0" y="920994"/>
                    <a:pt x="0" y="879797"/>
                  </a:cubicBezTo>
                  <a:lnTo>
                    <a:pt x="0" y="74594"/>
                  </a:lnTo>
                  <a:cubicBezTo>
                    <a:pt x="0" y="33397"/>
                    <a:pt x="33397" y="0"/>
                    <a:pt x="74594" y="0"/>
                  </a:cubicBezTo>
                  <a:close/>
                </a:path>
              </a:pathLst>
            </a:custGeom>
            <a:solidFill>
              <a:srgbClr val="300176">
                <a:alpha val="9804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94086" cy="992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384147" y="2587552"/>
            <a:ext cx="5253990" cy="3462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499" b="1" spc="59">
                <a:solidFill>
                  <a:srgbClr val="30017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Natural Language Task &amp; Preference Understanding</a:t>
            </a:r>
          </a:p>
          <a:p>
            <a:pPr algn="ctr">
              <a:lnSpc>
                <a:spcPts val="3528"/>
              </a:lnSpc>
            </a:pPr>
            <a:r>
              <a:rPr lang="en-US" sz="2800" spc="47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Users can interact naturally, and the agent extracts intent, effort, and constraints.</a:t>
            </a:r>
          </a:p>
          <a:p>
            <a:pPr algn="ctr">
              <a:lnSpc>
                <a:spcPts val="3528"/>
              </a:lnSpc>
            </a:pPr>
            <a:endParaRPr lang="en-US" sz="2800" spc="47">
              <a:solidFill>
                <a:srgbClr val="30017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453696" y="2324046"/>
            <a:ext cx="5012504" cy="372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7"/>
              </a:lnSpc>
            </a:pPr>
            <a:r>
              <a:rPr lang="en-US" sz="3339" b="1" spc="56">
                <a:solidFill>
                  <a:srgbClr val="30017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Deterministic Scheduling with Constraints</a:t>
            </a:r>
          </a:p>
          <a:p>
            <a:pPr algn="ctr">
              <a:lnSpc>
                <a:spcPts val="3365"/>
              </a:lnSpc>
            </a:pPr>
            <a:r>
              <a:rPr lang="en-US" sz="2671" spc="45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Task scheduling is handled by deterministic logic, ensuring transparency and reliability in how time blocks are allocated.</a:t>
            </a:r>
          </a:p>
          <a:p>
            <a:pPr algn="ctr">
              <a:lnSpc>
                <a:spcPts val="3365"/>
              </a:lnSpc>
            </a:pPr>
            <a:endParaRPr lang="en-US" sz="2671" spc="45">
              <a:solidFill>
                <a:srgbClr val="30017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258800" y="9603105"/>
            <a:ext cx="4023360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25371" y="6551679"/>
            <a:ext cx="5134577" cy="327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9"/>
              </a:lnSpc>
            </a:pPr>
            <a:r>
              <a:rPr lang="en-US" sz="3420" b="1" spc="58">
                <a:solidFill>
                  <a:srgbClr val="30017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Self-Aware Agent Execution Flow</a:t>
            </a:r>
          </a:p>
          <a:p>
            <a:pPr algn="ctr">
              <a:lnSpc>
                <a:spcPts val="3447"/>
              </a:lnSpc>
            </a:pPr>
            <a:r>
              <a:rPr lang="en-US" sz="2736" spc="46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The agent explicitly goes through reasoning, execution, and completion states, reinforcing trust and explainability.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24316" y="6662901"/>
            <a:ext cx="5238796" cy="3624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9"/>
              </a:lnSpc>
            </a:pPr>
            <a:r>
              <a:rPr lang="en-US" sz="3340" b="1" spc="56">
                <a:solidFill>
                  <a:srgbClr val="30017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Stateful Memory Across Interactions</a:t>
            </a:r>
          </a:p>
          <a:p>
            <a:pPr algn="ctr">
              <a:lnSpc>
                <a:spcPts val="3367"/>
              </a:lnSpc>
            </a:pPr>
            <a:r>
              <a:rPr lang="en-US" sz="2672" spc="45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Users can interact naturally (e.g., “Add a 2-hour coding session after lunch”), and the agent extracts intent, effort, and constraints.</a:t>
            </a:r>
          </a:p>
          <a:p>
            <a:pPr algn="ctr">
              <a:lnSpc>
                <a:spcPts val="3367"/>
              </a:lnSpc>
            </a:pPr>
            <a:endParaRPr lang="en-US" sz="2672" spc="45">
              <a:solidFill>
                <a:srgbClr val="30017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3352105" y="6387044"/>
            <a:ext cx="5383218" cy="3623704"/>
            <a:chOff x="0" y="0"/>
            <a:chExt cx="1417802" cy="95439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17802" cy="954391"/>
            </a:xfrm>
            <a:custGeom>
              <a:avLst/>
              <a:gdLst/>
              <a:ahLst/>
              <a:cxnLst/>
              <a:rect l="l" t="t" r="r" b="b"/>
              <a:pathLst>
                <a:path w="1417802" h="954391">
                  <a:moveTo>
                    <a:pt x="73346" y="0"/>
                  </a:moveTo>
                  <a:lnTo>
                    <a:pt x="1344456" y="0"/>
                  </a:lnTo>
                  <a:cubicBezTo>
                    <a:pt x="1384964" y="0"/>
                    <a:pt x="1417802" y="32838"/>
                    <a:pt x="1417802" y="73346"/>
                  </a:cubicBezTo>
                  <a:lnTo>
                    <a:pt x="1417802" y="881045"/>
                  </a:lnTo>
                  <a:cubicBezTo>
                    <a:pt x="1417802" y="921553"/>
                    <a:pt x="1384964" y="954391"/>
                    <a:pt x="1344456" y="954391"/>
                  </a:cubicBezTo>
                  <a:lnTo>
                    <a:pt x="73346" y="954391"/>
                  </a:lnTo>
                  <a:cubicBezTo>
                    <a:pt x="53893" y="954391"/>
                    <a:pt x="35238" y="946664"/>
                    <a:pt x="21483" y="932909"/>
                  </a:cubicBezTo>
                  <a:cubicBezTo>
                    <a:pt x="7728" y="919153"/>
                    <a:pt x="0" y="900498"/>
                    <a:pt x="0" y="881045"/>
                  </a:cubicBezTo>
                  <a:lnTo>
                    <a:pt x="0" y="73346"/>
                  </a:lnTo>
                  <a:cubicBezTo>
                    <a:pt x="0" y="32838"/>
                    <a:pt x="32838" y="0"/>
                    <a:pt x="73346" y="0"/>
                  </a:cubicBezTo>
                  <a:close/>
                </a:path>
              </a:pathLst>
            </a:custGeom>
            <a:solidFill>
              <a:srgbClr val="300176">
                <a:alpha val="9804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417802" cy="992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78060" y="6387044"/>
            <a:ext cx="5383218" cy="3623704"/>
            <a:chOff x="0" y="0"/>
            <a:chExt cx="1417802" cy="95439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17802" cy="954391"/>
            </a:xfrm>
            <a:custGeom>
              <a:avLst/>
              <a:gdLst/>
              <a:ahLst/>
              <a:cxnLst/>
              <a:rect l="l" t="t" r="r" b="b"/>
              <a:pathLst>
                <a:path w="1417802" h="954391">
                  <a:moveTo>
                    <a:pt x="73346" y="0"/>
                  </a:moveTo>
                  <a:lnTo>
                    <a:pt x="1344456" y="0"/>
                  </a:lnTo>
                  <a:cubicBezTo>
                    <a:pt x="1384964" y="0"/>
                    <a:pt x="1417802" y="32838"/>
                    <a:pt x="1417802" y="73346"/>
                  </a:cubicBezTo>
                  <a:lnTo>
                    <a:pt x="1417802" y="881045"/>
                  </a:lnTo>
                  <a:cubicBezTo>
                    <a:pt x="1417802" y="921553"/>
                    <a:pt x="1384964" y="954391"/>
                    <a:pt x="1344456" y="954391"/>
                  </a:cubicBezTo>
                  <a:lnTo>
                    <a:pt x="73346" y="954391"/>
                  </a:lnTo>
                  <a:cubicBezTo>
                    <a:pt x="53893" y="954391"/>
                    <a:pt x="35238" y="946664"/>
                    <a:pt x="21483" y="932909"/>
                  </a:cubicBezTo>
                  <a:cubicBezTo>
                    <a:pt x="7728" y="919153"/>
                    <a:pt x="0" y="900498"/>
                    <a:pt x="0" y="881045"/>
                  </a:cubicBezTo>
                  <a:lnTo>
                    <a:pt x="0" y="73346"/>
                  </a:lnTo>
                  <a:cubicBezTo>
                    <a:pt x="0" y="32838"/>
                    <a:pt x="32838" y="0"/>
                    <a:pt x="73346" y="0"/>
                  </a:cubicBezTo>
                  <a:close/>
                </a:path>
              </a:pathLst>
            </a:custGeom>
            <a:solidFill>
              <a:srgbClr val="300176">
                <a:alpha val="9804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417802" cy="992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5124930" y="7283386"/>
            <a:ext cx="1837566" cy="1837566"/>
          </a:xfrm>
          <a:custGeom>
            <a:avLst/>
            <a:gdLst/>
            <a:ahLst/>
            <a:cxnLst/>
            <a:rect l="l" t="t" r="r" b="b"/>
            <a:pathLst>
              <a:path w="1837566" h="1837566">
                <a:moveTo>
                  <a:pt x="0" y="0"/>
                </a:moveTo>
                <a:lnTo>
                  <a:pt x="1837566" y="0"/>
                </a:lnTo>
                <a:lnTo>
                  <a:pt x="1837566" y="1837566"/>
                </a:lnTo>
                <a:lnTo>
                  <a:pt x="0" y="18375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525861" y="7119868"/>
            <a:ext cx="1487615" cy="2026263"/>
          </a:xfrm>
          <a:custGeom>
            <a:avLst/>
            <a:gdLst/>
            <a:ahLst/>
            <a:cxnLst/>
            <a:rect l="l" t="t" r="r" b="b"/>
            <a:pathLst>
              <a:path w="1487615" h="2026263">
                <a:moveTo>
                  <a:pt x="0" y="0"/>
                </a:moveTo>
                <a:lnTo>
                  <a:pt x="1487615" y="0"/>
                </a:lnTo>
                <a:lnTo>
                  <a:pt x="1487615" y="2026263"/>
                </a:lnTo>
                <a:lnTo>
                  <a:pt x="0" y="20262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563051" y="2587552"/>
            <a:ext cx="5253990" cy="280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499" b="1" spc="59">
                <a:solidFill>
                  <a:srgbClr val="30017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Agentic Day Planning</a:t>
            </a:r>
          </a:p>
          <a:p>
            <a:pPr algn="ctr">
              <a:lnSpc>
                <a:spcPts val="3528"/>
              </a:lnSpc>
            </a:pPr>
            <a:r>
              <a:rPr lang="en-US" sz="2800" spc="47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U-Dot AI reasons about tasks, priorities, and available time to create a realistic daily plan instead of a static task list.</a:t>
            </a:r>
          </a:p>
          <a:p>
            <a:pPr algn="ctr">
              <a:lnSpc>
                <a:spcPts val="3528"/>
              </a:lnSpc>
            </a:pPr>
            <a:endParaRPr lang="en-US" sz="2800" spc="47">
              <a:solidFill>
                <a:srgbClr val="30017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-4055" y="1390031"/>
            <a:ext cx="4245753" cy="691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Key Features</a:t>
            </a:r>
          </a:p>
        </p:txBody>
      </p:sp>
      <p:sp>
        <p:nvSpPr>
          <p:cNvPr id="32" name="Freeform 32"/>
          <p:cNvSpPr/>
          <p:nvPr/>
        </p:nvSpPr>
        <p:spPr>
          <a:xfrm>
            <a:off x="15687432" y="424524"/>
            <a:ext cx="2257425" cy="510450"/>
          </a:xfrm>
          <a:custGeom>
            <a:avLst/>
            <a:gdLst/>
            <a:ahLst/>
            <a:cxnLst/>
            <a:rect l="l" t="t" r="r" b="b"/>
            <a:pathLst>
              <a:path w="2257425" h="510450">
                <a:moveTo>
                  <a:pt x="0" y="0"/>
                </a:moveTo>
                <a:lnTo>
                  <a:pt x="2257425" y="0"/>
                </a:lnTo>
                <a:lnTo>
                  <a:pt x="2257425" y="510450"/>
                </a:lnTo>
                <a:lnTo>
                  <a:pt x="0" y="5104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969"/>
    </mc:Choice>
    <mc:Fallback xmlns="">
      <p:transition spd="slow" advTm="4996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0137" y="27115"/>
            <a:ext cx="16455390" cy="2134552"/>
            <a:chOff x="0" y="0"/>
            <a:chExt cx="21940520" cy="28460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0523" cy="2846070"/>
            </a:xfrm>
            <a:custGeom>
              <a:avLst/>
              <a:gdLst/>
              <a:ahLst/>
              <a:cxnLst/>
              <a:rect l="l" t="t" r="r" b="b"/>
              <a:pathLst>
                <a:path w="21940523" h="2846070">
                  <a:moveTo>
                    <a:pt x="0" y="0"/>
                  </a:moveTo>
                  <a:lnTo>
                    <a:pt x="21940523" y="0"/>
                  </a:lnTo>
                  <a:lnTo>
                    <a:pt x="21940523" y="2846070"/>
                  </a:lnTo>
                  <a:lnTo>
                    <a:pt x="0" y="28460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7" t="-1047854" b="-104785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1940520" cy="2788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30017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Solution Deep-Dive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1747" y="4201239"/>
            <a:ext cx="3086100" cy="4926999"/>
            <a:chOff x="0" y="0"/>
            <a:chExt cx="812800" cy="12976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297646"/>
            </a:xfrm>
            <a:custGeom>
              <a:avLst/>
              <a:gdLst/>
              <a:ahLst/>
              <a:cxnLst/>
              <a:rect l="l" t="t" r="r" b="b"/>
              <a:pathLst>
                <a:path w="812800" h="1297646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169705"/>
                  </a:lnTo>
                  <a:cubicBezTo>
                    <a:pt x="812800" y="1203637"/>
                    <a:pt x="799321" y="1236179"/>
                    <a:pt x="775327" y="1260173"/>
                  </a:cubicBezTo>
                  <a:cubicBezTo>
                    <a:pt x="751333" y="1284166"/>
                    <a:pt x="718791" y="1297646"/>
                    <a:pt x="684859" y="1297646"/>
                  </a:cubicBezTo>
                  <a:lnTo>
                    <a:pt x="127941" y="1297646"/>
                  </a:lnTo>
                  <a:cubicBezTo>
                    <a:pt x="94009" y="1297646"/>
                    <a:pt x="61467" y="1284166"/>
                    <a:pt x="37473" y="1260173"/>
                  </a:cubicBezTo>
                  <a:cubicBezTo>
                    <a:pt x="13479" y="1236179"/>
                    <a:pt x="0" y="1203637"/>
                    <a:pt x="0" y="116970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300176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13357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44375" y="4201239"/>
            <a:ext cx="3086100" cy="4926999"/>
            <a:chOff x="0" y="0"/>
            <a:chExt cx="812800" cy="12976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297646"/>
            </a:xfrm>
            <a:custGeom>
              <a:avLst/>
              <a:gdLst/>
              <a:ahLst/>
              <a:cxnLst/>
              <a:rect l="l" t="t" r="r" b="b"/>
              <a:pathLst>
                <a:path w="812800" h="1297646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169705"/>
                  </a:lnTo>
                  <a:cubicBezTo>
                    <a:pt x="812800" y="1203637"/>
                    <a:pt x="799321" y="1236179"/>
                    <a:pt x="775327" y="1260173"/>
                  </a:cubicBezTo>
                  <a:cubicBezTo>
                    <a:pt x="751333" y="1284166"/>
                    <a:pt x="718791" y="1297646"/>
                    <a:pt x="684859" y="1297646"/>
                  </a:cubicBezTo>
                  <a:lnTo>
                    <a:pt x="127941" y="1297646"/>
                  </a:lnTo>
                  <a:cubicBezTo>
                    <a:pt x="94009" y="1297646"/>
                    <a:pt x="61467" y="1284166"/>
                    <a:pt x="37473" y="1260173"/>
                  </a:cubicBezTo>
                  <a:cubicBezTo>
                    <a:pt x="13479" y="1236179"/>
                    <a:pt x="0" y="1203637"/>
                    <a:pt x="0" y="116970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300176">
                <a:alpha val="19608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13357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57003" y="4201239"/>
            <a:ext cx="3086100" cy="4926999"/>
            <a:chOff x="0" y="0"/>
            <a:chExt cx="812800" cy="12976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297646"/>
            </a:xfrm>
            <a:custGeom>
              <a:avLst/>
              <a:gdLst/>
              <a:ahLst/>
              <a:cxnLst/>
              <a:rect l="l" t="t" r="r" b="b"/>
              <a:pathLst>
                <a:path w="812800" h="1297646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169705"/>
                  </a:lnTo>
                  <a:cubicBezTo>
                    <a:pt x="812800" y="1203637"/>
                    <a:pt x="799321" y="1236179"/>
                    <a:pt x="775327" y="1260173"/>
                  </a:cubicBezTo>
                  <a:cubicBezTo>
                    <a:pt x="751333" y="1284166"/>
                    <a:pt x="718791" y="1297646"/>
                    <a:pt x="684859" y="1297646"/>
                  </a:cubicBezTo>
                  <a:lnTo>
                    <a:pt x="127941" y="1297646"/>
                  </a:lnTo>
                  <a:cubicBezTo>
                    <a:pt x="94009" y="1297646"/>
                    <a:pt x="61467" y="1284166"/>
                    <a:pt x="37473" y="1260173"/>
                  </a:cubicBezTo>
                  <a:cubicBezTo>
                    <a:pt x="13479" y="1236179"/>
                    <a:pt x="0" y="1203637"/>
                    <a:pt x="0" y="116970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300176">
                <a:alpha val="19608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13357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687432" y="424524"/>
            <a:ext cx="2257425" cy="510450"/>
          </a:xfrm>
          <a:custGeom>
            <a:avLst/>
            <a:gdLst/>
            <a:ahLst/>
            <a:cxnLst/>
            <a:rect l="l" t="t" r="r" b="b"/>
            <a:pathLst>
              <a:path w="2257425" h="510450">
                <a:moveTo>
                  <a:pt x="0" y="0"/>
                </a:moveTo>
                <a:lnTo>
                  <a:pt x="2257425" y="0"/>
                </a:lnTo>
                <a:lnTo>
                  <a:pt x="2257425" y="510450"/>
                </a:lnTo>
                <a:lnTo>
                  <a:pt x="0" y="510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211767" y="1414179"/>
            <a:ext cx="4048383" cy="8051055"/>
          </a:xfrm>
          <a:custGeom>
            <a:avLst/>
            <a:gdLst/>
            <a:ahLst/>
            <a:cxnLst/>
            <a:rect l="l" t="t" r="r" b="b"/>
            <a:pathLst>
              <a:path w="4795349" h="8889111">
                <a:moveTo>
                  <a:pt x="0" y="0"/>
                </a:moveTo>
                <a:lnTo>
                  <a:pt x="4795349" y="0"/>
                </a:lnTo>
                <a:lnTo>
                  <a:pt x="4795349" y="8889111"/>
                </a:lnTo>
                <a:lnTo>
                  <a:pt x="0" y="8889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98" r="-18481"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869630" y="4201239"/>
            <a:ext cx="3613048" cy="4926999"/>
            <a:chOff x="0" y="0"/>
            <a:chExt cx="951585" cy="129764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51585" cy="1297646"/>
            </a:xfrm>
            <a:custGeom>
              <a:avLst/>
              <a:gdLst/>
              <a:ahLst/>
              <a:cxnLst/>
              <a:rect l="l" t="t" r="r" b="b"/>
              <a:pathLst>
                <a:path w="951585" h="1297646">
                  <a:moveTo>
                    <a:pt x="109281" y="0"/>
                  </a:moveTo>
                  <a:lnTo>
                    <a:pt x="842304" y="0"/>
                  </a:lnTo>
                  <a:cubicBezTo>
                    <a:pt x="902658" y="0"/>
                    <a:pt x="951585" y="48927"/>
                    <a:pt x="951585" y="109281"/>
                  </a:cubicBezTo>
                  <a:lnTo>
                    <a:pt x="951585" y="1188365"/>
                  </a:lnTo>
                  <a:cubicBezTo>
                    <a:pt x="951585" y="1217348"/>
                    <a:pt x="940071" y="1245144"/>
                    <a:pt x="919577" y="1265638"/>
                  </a:cubicBezTo>
                  <a:cubicBezTo>
                    <a:pt x="899083" y="1286132"/>
                    <a:pt x="871287" y="1297646"/>
                    <a:pt x="842304" y="1297646"/>
                  </a:cubicBezTo>
                  <a:lnTo>
                    <a:pt x="109281" y="1297646"/>
                  </a:lnTo>
                  <a:cubicBezTo>
                    <a:pt x="48927" y="1297646"/>
                    <a:pt x="0" y="1248719"/>
                    <a:pt x="0" y="1188365"/>
                  </a:cubicBezTo>
                  <a:lnTo>
                    <a:pt x="0" y="109281"/>
                  </a:lnTo>
                  <a:cubicBezTo>
                    <a:pt x="0" y="48927"/>
                    <a:pt x="48927" y="0"/>
                    <a:pt x="109281" y="0"/>
                  </a:cubicBezTo>
                  <a:close/>
                </a:path>
              </a:pathLst>
            </a:custGeom>
            <a:solidFill>
              <a:srgbClr val="300176">
                <a:alpha val="19608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51585" cy="13357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258800" y="9603105"/>
            <a:ext cx="4023360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0137" y="1572403"/>
            <a:ext cx="16455390" cy="748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0137" y="3354149"/>
            <a:ext cx="8044263" cy="561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How the agent works behind the scenes: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1954" y="4487630"/>
            <a:ext cx="2145687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30017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User Interface (Web App)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34004" y="4513890"/>
            <a:ext cx="2679403" cy="81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3" b="1">
                <a:solidFill>
                  <a:srgbClr val="30017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Intent &amp; Reasoning Layer (LLM)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76380" y="4487630"/>
            <a:ext cx="2860733" cy="744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5"/>
              </a:lnSpc>
            </a:pPr>
            <a:r>
              <a:rPr lang="en-US" sz="2111" b="1">
                <a:solidFill>
                  <a:srgbClr val="30017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Agent Orchestration (LangGraph)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1747" y="5521739"/>
            <a:ext cx="2954629" cy="221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User interacts with </a:t>
            </a:r>
            <a:r>
              <a:rPr lang="en-US" sz="1999" b="1" i="1">
                <a:solidFill>
                  <a:srgbClr val="300176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U-Dot AI</a:t>
            </a:r>
            <a:r>
              <a:rPr lang="en-US" sz="1999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using natural language</a:t>
            </a:r>
          </a:p>
          <a:p>
            <a:pPr marL="431799" lvl="1" indent="-215899" algn="l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Simple web-based interface</a:t>
            </a:r>
          </a:p>
          <a:p>
            <a:pPr algn="l">
              <a:lnSpc>
                <a:spcPts val="2999"/>
              </a:lnSpc>
            </a:pPr>
            <a:endParaRPr lang="en-US" sz="1999">
              <a:solidFill>
                <a:srgbClr val="30017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034004" y="5540789"/>
            <a:ext cx="2882751" cy="2914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68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A Large Language Model is used strictly for:</a:t>
            </a:r>
          </a:p>
          <a:p>
            <a:pPr marL="403305" lvl="1" indent="-201652" algn="l">
              <a:lnSpc>
                <a:spcPts val="2615"/>
              </a:lnSpc>
              <a:buFont typeface="Arial"/>
              <a:buChar char="•"/>
            </a:pPr>
            <a:r>
              <a:rPr lang="en-US" sz="1868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Intent extraction</a:t>
            </a:r>
          </a:p>
          <a:p>
            <a:pPr marL="403305" lvl="1" indent="-201652" algn="l">
              <a:lnSpc>
                <a:spcPts val="2615"/>
              </a:lnSpc>
              <a:buFont typeface="Arial"/>
              <a:buChar char="•"/>
            </a:pPr>
            <a:r>
              <a:rPr lang="en-US" sz="1868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Effort and constraint understanding</a:t>
            </a:r>
          </a:p>
          <a:p>
            <a:pPr marL="403305" lvl="1" indent="-201652" algn="l">
              <a:lnSpc>
                <a:spcPts val="2615"/>
              </a:lnSpc>
              <a:buFont typeface="Arial"/>
              <a:buChar char="•"/>
            </a:pPr>
            <a:r>
              <a:rPr lang="en-US" sz="1868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Summarization and reflection</a:t>
            </a:r>
          </a:p>
          <a:p>
            <a:pPr marL="403305" lvl="1" indent="-201652" algn="l">
              <a:lnSpc>
                <a:spcPts val="2615"/>
              </a:lnSpc>
              <a:buFont typeface="Arial"/>
              <a:buChar char="•"/>
            </a:pPr>
            <a:r>
              <a:rPr lang="en-US" sz="1868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The LLM does not directly modify state.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76380" y="5540789"/>
            <a:ext cx="2814550" cy="3019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886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The agent follows an explicit reasoning loop with well-defined states:</a:t>
            </a:r>
          </a:p>
          <a:p>
            <a:pPr marL="407245" lvl="1" indent="-203622" algn="l">
              <a:lnSpc>
                <a:spcPts val="2640"/>
              </a:lnSpc>
              <a:buFont typeface="Arial"/>
              <a:buChar char="•"/>
            </a:pPr>
            <a:r>
              <a:rPr lang="en-US" sz="1886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Parse intent</a:t>
            </a:r>
          </a:p>
          <a:p>
            <a:pPr marL="407245" lvl="1" indent="-203622" algn="l">
              <a:lnSpc>
                <a:spcPts val="2640"/>
              </a:lnSpc>
              <a:buFont typeface="Arial"/>
              <a:buChar char="•"/>
            </a:pPr>
            <a:r>
              <a:rPr lang="en-US" sz="1886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Plan actions</a:t>
            </a:r>
          </a:p>
          <a:p>
            <a:pPr marL="407245" lvl="1" indent="-203622" algn="l">
              <a:lnSpc>
                <a:spcPts val="2829"/>
              </a:lnSpc>
              <a:buFont typeface="Arial"/>
              <a:buChar char="•"/>
            </a:pPr>
            <a:r>
              <a:rPr lang="en-US" sz="1886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Execute tools</a:t>
            </a:r>
          </a:p>
          <a:p>
            <a:pPr marL="407245" lvl="1" indent="-203622" algn="l">
              <a:lnSpc>
                <a:spcPts val="2640"/>
              </a:lnSpc>
              <a:buFont typeface="Arial"/>
              <a:buChar char="•"/>
            </a:pPr>
            <a:r>
              <a:rPr lang="en-US" sz="1886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Update state</a:t>
            </a:r>
          </a:p>
          <a:p>
            <a:pPr marL="407245" lvl="1" indent="-203622" algn="l">
              <a:lnSpc>
                <a:spcPts val="2640"/>
              </a:lnSpc>
              <a:buFont typeface="Arial"/>
              <a:buChar char="•"/>
            </a:pPr>
            <a:r>
              <a:rPr lang="en-US" sz="1886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Self-reflect</a:t>
            </a:r>
          </a:p>
          <a:p>
            <a:pPr marL="407245" lvl="1" indent="-203622" algn="l">
              <a:lnSpc>
                <a:spcPts val="2640"/>
              </a:lnSpc>
              <a:buFont typeface="Arial"/>
              <a:buChar char="•"/>
            </a:pPr>
            <a:r>
              <a:rPr lang="en-US" sz="1886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Respond to user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46150" y="4312053"/>
            <a:ext cx="2455845" cy="831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376" b="1">
                <a:solidFill>
                  <a:srgbClr val="300176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Deterministic Tools &amp; State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93455" y="5175369"/>
            <a:ext cx="3628535" cy="3758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1846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Scheduling, task updates, and constraint handling are implemented using deterministic Python logic to ensure transparency and reliability.</a:t>
            </a:r>
          </a:p>
          <a:p>
            <a:pPr marL="398727" lvl="1" indent="-199364" algn="l">
              <a:lnSpc>
                <a:spcPts val="2770"/>
              </a:lnSpc>
              <a:buFont typeface="Arial"/>
              <a:buChar char="•"/>
            </a:pPr>
            <a:r>
              <a:rPr lang="en-US" sz="1846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Persistent Agent State</a:t>
            </a:r>
          </a:p>
          <a:p>
            <a:pPr marL="398727" lvl="1" indent="-199364" algn="l">
              <a:lnSpc>
                <a:spcPts val="2770"/>
              </a:lnSpc>
              <a:buFont typeface="Arial"/>
              <a:buChar char="•"/>
            </a:pPr>
            <a:r>
              <a:rPr lang="en-US" sz="1846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The agent maintains:</a:t>
            </a:r>
          </a:p>
          <a:p>
            <a:pPr marL="398727" lvl="1" indent="-199364" algn="l">
              <a:lnSpc>
                <a:spcPts val="2770"/>
              </a:lnSpc>
              <a:buFont typeface="Arial"/>
              <a:buChar char="•"/>
            </a:pPr>
            <a:r>
              <a:rPr lang="en-US" sz="1846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Tasks and priorities</a:t>
            </a:r>
          </a:p>
          <a:p>
            <a:pPr marL="398727" lvl="1" indent="-199364" algn="l">
              <a:lnSpc>
                <a:spcPts val="2770"/>
              </a:lnSpc>
              <a:buFont typeface="Arial"/>
              <a:buChar char="•"/>
            </a:pPr>
            <a:r>
              <a:rPr lang="en-US" sz="1846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Calendar events</a:t>
            </a:r>
          </a:p>
          <a:p>
            <a:pPr marL="398727" lvl="1" indent="-199364" algn="l">
              <a:lnSpc>
                <a:spcPts val="2770"/>
              </a:lnSpc>
              <a:buFont typeface="Arial"/>
              <a:buChar char="•"/>
            </a:pPr>
            <a:r>
              <a:rPr lang="en-US" sz="1846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User preferences</a:t>
            </a:r>
          </a:p>
          <a:p>
            <a:pPr marL="398727" lvl="1" indent="-199364" algn="l">
              <a:lnSpc>
                <a:spcPts val="2770"/>
              </a:lnSpc>
              <a:buFont typeface="Arial"/>
              <a:buChar char="•"/>
            </a:pPr>
            <a:r>
              <a:rPr lang="en-US" sz="1846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Last action summary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489"/>
    </mc:Choice>
    <mc:Fallback xmlns="">
      <p:transition spd="slow" advTm="4948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0304" y="0"/>
            <a:ext cx="16455390" cy="2134552"/>
            <a:chOff x="0" y="0"/>
            <a:chExt cx="21940520" cy="28460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0523" cy="2846070"/>
            </a:xfrm>
            <a:custGeom>
              <a:avLst/>
              <a:gdLst/>
              <a:ahLst/>
              <a:cxnLst/>
              <a:rect l="l" t="t" r="r" b="b"/>
              <a:pathLst>
                <a:path w="21940523" h="2846070">
                  <a:moveTo>
                    <a:pt x="0" y="0"/>
                  </a:moveTo>
                  <a:lnTo>
                    <a:pt x="21940523" y="0"/>
                  </a:lnTo>
                  <a:lnTo>
                    <a:pt x="21940523" y="2846070"/>
                  </a:lnTo>
                  <a:lnTo>
                    <a:pt x="0" y="28460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1168" b="-222769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1940520" cy="2788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30017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Solution Deep-Dive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70378" y="3357816"/>
            <a:ext cx="7373622" cy="6466269"/>
            <a:chOff x="0" y="0"/>
            <a:chExt cx="1942024" cy="1703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42024" cy="1703050"/>
            </a:xfrm>
            <a:custGeom>
              <a:avLst/>
              <a:gdLst/>
              <a:ahLst/>
              <a:cxnLst/>
              <a:rect l="l" t="t" r="r" b="b"/>
              <a:pathLst>
                <a:path w="1942024" h="1703050">
                  <a:moveTo>
                    <a:pt x="83996" y="0"/>
                  </a:moveTo>
                  <a:lnTo>
                    <a:pt x="1858028" y="0"/>
                  </a:lnTo>
                  <a:cubicBezTo>
                    <a:pt x="1904418" y="0"/>
                    <a:pt x="1942024" y="37606"/>
                    <a:pt x="1942024" y="83996"/>
                  </a:cubicBezTo>
                  <a:lnTo>
                    <a:pt x="1942024" y="1619054"/>
                  </a:lnTo>
                  <a:cubicBezTo>
                    <a:pt x="1942024" y="1665444"/>
                    <a:pt x="1904418" y="1703050"/>
                    <a:pt x="1858028" y="1703050"/>
                  </a:cubicBezTo>
                  <a:lnTo>
                    <a:pt x="83996" y="1703050"/>
                  </a:lnTo>
                  <a:cubicBezTo>
                    <a:pt x="37606" y="1703050"/>
                    <a:pt x="0" y="1665444"/>
                    <a:pt x="0" y="1619054"/>
                  </a:cubicBezTo>
                  <a:lnTo>
                    <a:pt x="0" y="83996"/>
                  </a:lnTo>
                  <a:cubicBezTo>
                    <a:pt x="0" y="37606"/>
                    <a:pt x="37606" y="0"/>
                    <a:pt x="83996" y="0"/>
                  </a:cubicBezTo>
                  <a:close/>
                </a:path>
              </a:pathLst>
            </a:custGeom>
            <a:solidFill>
              <a:srgbClr val="300176">
                <a:alpha val="588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942024" cy="1741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258800" y="9603105"/>
            <a:ext cx="4023360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30492" y="3357816"/>
            <a:ext cx="7328808" cy="6466269"/>
            <a:chOff x="0" y="0"/>
            <a:chExt cx="1930221" cy="1703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30221" cy="1703050"/>
            </a:xfrm>
            <a:custGeom>
              <a:avLst/>
              <a:gdLst/>
              <a:ahLst/>
              <a:cxnLst/>
              <a:rect l="l" t="t" r="r" b="b"/>
              <a:pathLst>
                <a:path w="1930221" h="1703050">
                  <a:moveTo>
                    <a:pt x="84509" y="0"/>
                  </a:moveTo>
                  <a:lnTo>
                    <a:pt x="1845712" y="0"/>
                  </a:lnTo>
                  <a:cubicBezTo>
                    <a:pt x="1868125" y="0"/>
                    <a:pt x="1889620" y="8904"/>
                    <a:pt x="1905469" y="24752"/>
                  </a:cubicBezTo>
                  <a:cubicBezTo>
                    <a:pt x="1921317" y="40601"/>
                    <a:pt x="1930221" y="62096"/>
                    <a:pt x="1930221" y="84509"/>
                  </a:cubicBezTo>
                  <a:lnTo>
                    <a:pt x="1930221" y="1618541"/>
                  </a:lnTo>
                  <a:cubicBezTo>
                    <a:pt x="1930221" y="1640954"/>
                    <a:pt x="1921317" y="1662449"/>
                    <a:pt x="1905469" y="1678298"/>
                  </a:cubicBezTo>
                  <a:cubicBezTo>
                    <a:pt x="1889620" y="1694147"/>
                    <a:pt x="1868125" y="1703050"/>
                    <a:pt x="1845712" y="1703050"/>
                  </a:cubicBezTo>
                  <a:lnTo>
                    <a:pt x="84509" y="1703050"/>
                  </a:lnTo>
                  <a:cubicBezTo>
                    <a:pt x="62096" y="1703050"/>
                    <a:pt x="40601" y="1694147"/>
                    <a:pt x="24752" y="1678298"/>
                  </a:cubicBezTo>
                  <a:cubicBezTo>
                    <a:pt x="8904" y="1662449"/>
                    <a:pt x="0" y="1640954"/>
                    <a:pt x="0" y="1618541"/>
                  </a:cubicBezTo>
                  <a:lnTo>
                    <a:pt x="0" y="84509"/>
                  </a:lnTo>
                  <a:cubicBezTo>
                    <a:pt x="0" y="62096"/>
                    <a:pt x="8904" y="40601"/>
                    <a:pt x="24752" y="24752"/>
                  </a:cubicBezTo>
                  <a:cubicBezTo>
                    <a:pt x="40601" y="8904"/>
                    <a:pt x="62096" y="0"/>
                    <a:pt x="84509" y="0"/>
                  </a:cubicBezTo>
                  <a:close/>
                </a:path>
              </a:pathLst>
            </a:custGeom>
            <a:solidFill>
              <a:srgbClr val="300176">
                <a:alpha val="5882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30221" cy="1741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692066" y="2644090"/>
            <a:ext cx="765123" cy="504981"/>
          </a:xfrm>
          <a:custGeom>
            <a:avLst/>
            <a:gdLst/>
            <a:ahLst/>
            <a:cxnLst/>
            <a:rect l="l" t="t" r="r" b="b"/>
            <a:pathLst>
              <a:path w="765123" h="504981">
                <a:moveTo>
                  <a:pt x="0" y="0"/>
                </a:moveTo>
                <a:lnTo>
                  <a:pt x="765123" y="0"/>
                </a:lnTo>
                <a:lnTo>
                  <a:pt x="765123" y="504982"/>
                </a:lnTo>
                <a:lnTo>
                  <a:pt x="0" y="5049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687432" y="424524"/>
            <a:ext cx="2257425" cy="510450"/>
          </a:xfrm>
          <a:custGeom>
            <a:avLst/>
            <a:gdLst/>
            <a:ahLst/>
            <a:cxnLst/>
            <a:rect l="l" t="t" r="r" b="b"/>
            <a:pathLst>
              <a:path w="2257425" h="510450">
                <a:moveTo>
                  <a:pt x="0" y="0"/>
                </a:moveTo>
                <a:lnTo>
                  <a:pt x="2257425" y="0"/>
                </a:lnTo>
                <a:lnTo>
                  <a:pt x="2257425" y="510450"/>
                </a:lnTo>
                <a:lnTo>
                  <a:pt x="0" y="510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850559" y="8061088"/>
            <a:ext cx="3836873" cy="1591684"/>
          </a:xfrm>
          <a:custGeom>
            <a:avLst/>
            <a:gdLst/>
            <a:ahLst/>
            <a:cxnLst/>
            <a:rect l="l" t="t" r="r" b="b"/>
            <a:pathLst>
              <a:path w="7174642" h="2957440">
                <a:moveTo>
                  <a:pt x="0" y="0"/>
                </a:moveTo>
                <a:lnTo>
                  <a:pt x="7174642" y="0"/>
                </a:lnTo>
                <a:lnTo>
                  <a:pt x="7174642" y="2957441"/>
                </a:lnTo>
                <a:lnTo>
                  <a:pt x="0" y="29574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4016" b="-4771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651868" y="1560146"/>
            <a:ext cx="16455390" cy="72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Details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05191" y="3433009"/>
            <a:ext cx="3148810" cy="561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Agent Logic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34790" y="3433009"/>
            <a:ext cx="2248019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Tools Used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34815" y="4048397"/>
            <a:ext cx="6844748" cy="5564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2547" lvl="1" indent="-211273" algn="just">
              <a:lnSpc>
                <a:spcPts val="2935"/>
              </a:lnSpc>
              <a:buFont typeface="Arial"/>
              <a:buChar char="•"/>
            </a:pPr>
            <a:r>
              <a:rPr lang="en-US" sz="1957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State-driven agent</a:t>
            </a:r>
          </a:p>
          <a:p>
            <a:pPr marL="845093" lvl="2" indent="-281698" algn="just">
              <a:lnSpc>
                <a:spcPts val="2935"/>
              </a:lnSpc>
              <a:buFont typeface="Arial"/>
              <a:buChar char="⚬"/>
            </a:pPr>
            <a:r>
              <a:rPr lang="en-US" sz="195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Maintains tasks, calendar events, preferences, and history</a:t>
            </a:r>
          </a:p>
          <a:p>
            <a:pPr marL="422547" lvl="1" indent="-211273" algn="just">
              <a:lnSpc>
                <a:spcPts val="2935"/>
              </a:lnSpc>
              <a:buFont typeface="Arial"/>
              <a:buChar char="•"/>
            </a:pPr>
            <a:r>
              <a:rPr lang="en-US" sz="195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Explicit reasoning loop (</a:t>
            </a:r>
            <a:r>
              <a:rPr lang="en-US" sz="1957" dirty="0" err="1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LangGraph</a:t>
            </a:r>
            <a:r>
              <a:rPr lang="en-US" sz="195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</a:p>
          <a:p>
            <a:pPr marL="845093" lvl="2" indent="-281698" algn="just">
              <a:lnSpc>
                <a:spcPts val="2935"/>
              </a:lnSpc>
              <a:buFont typeface="Arial"/>
              <a:buChar char="⚬"/>
            </a:pPr>
            <a:r>
              <a:rPr lang="en-US" sz="195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Parse intent</a:t>
            </a:r>
          </a:p>
          <a:p>
            <a:pPr marL="845093" lvl="2" indent="-281698" algn="just">
              <a:lnSpc>
                <a:spcPts val="2935"/>
              </a:lnSpc>
              <a:buFont typeface="Arial"/>
              <a:buChar char="⚬"/>
            </a:pPr>
            <a:r>
              <a:rPr lang="en-US" sz="195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Plan actions</a:t>
            </a:r>
          </a:p>
          <a:p>
            <a:pPr marL="845093" lvl="2" indent="-281698" algn="just">
              <a:lnSpc>
                <a:spcPts val="2935"/>
              </a:lnSpc>
              <a:buFont typeface="Arial"/>
              <a:buChar char="⚬"/>
            </a:pPr>
            <a:r>
              <a:rPr lang="en-US" sz="195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Execute tools</a:t>
            </a:r>
          </a:p>
          <a:p>
            <a:pPr marL="845093" lvl="2" indent="-281698" algn="just">
              <a:lnSpc>
                <a:spcPts val="2935"/>
              </a:lnSpc>
              <a:buFont typeface="Arial"/>
              <a:buChar char="⚬"/>
            </a:pPr>
            <a:r>
              <a:rPr lang="en-US" sz="195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Update state</a:t>
            </a:r>
          </a:p>
          <a:p>
            <a:pPr marL="845093" lvl="2" indent="-281698" algn="just">
              <a:lnSpc>
                <a:spcPts val="2935"/>
              </a:lnSpc>
              <a:buFont typeface="Arial"/>
              <a:buChar char="⚬"/>
            </a:pPr>
            <a:r>
              <a:rPr lang="en-US" sz="195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Self-reflect</a:t>
            </a:r>
          </a:p>
          <a:p>
            <a:pPr marL="845093" lvl="2" indent="-281698" algn="just">
              <a:lnSpc>
                <a:spcPts val="2935"/>
              </a:lnSpc>
              <a:buFont typeface="Arial"/>
              <a:buChar char="⚬"/>
            </a:pPr>
            <a:r>
              <a:rPr lang="en-US" sz="195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Respond to user</a:t>
            </a:r>
          </a:p>
          <a:p>
            <a:pPr marL="422547" lvl="1" indent="-211273" algn="just">
              <a:lnSpc>
                <a:spcPts val="2935"/>
              </a:lnSpc>
              <a:buFont typeface="Arial"/>
              <a:buChar char="•"/>
            </a:pPr>
            <a:r>
              <a:rPr lang="en-US" sz="195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Clear LLM boundaries</a:t>
            </a:r>
          </a:p>
          <a:p>
            <a:pPr marL="845093" lvl="2" indent="-281698" algn="just">
              <a:lnSpc>
                <a:spcPts val="2935"/>
              </a:lnSpc>
              <a:buFont typeface="Arial"/>
              <a:buChar char="⚬"/>
            </a:pPr>
            <a:r>
              <a:rPr lang="en-US" sz="195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LLM used only for understanding and reasoning</a:t>
            </a:r>
          </a:p>
          <a:p>
            <a:pPr marL="845093" lvl="2" indent="-281698" algn="just">
              <a:lnSpc>
                <a:spcPts val="2935"/>
              </a:lnSpc>
              <a:buFont typeface="Arial"/>
              <a:buChar char="⚬"/>
            </a:pPr>
            <a:r>
              <a:rPr lang="en-US" sz="195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All scheduling logic remains deterministic</a:t>
            </a:r>
          </a:p>
          <a:p>
            <a:pPr marL="422547" lvl="1" indent="-211273" algn="just">
              <a:lnSpc>
                <a:spcPts val="2935"/>
              </a:lnSpc>
              <a:buFont typeface="Arial"/>
              <a:buChar char="•"/>
            </a:pPr>
            <a:r>
              <a:rPr lang="en-US" sz="195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Self-reflection step</a:t>
            </a:r>
          </a:p>
          <a:p>
            <a:pPr marL="845093" lvl="2" indent="-281698" algn="just">
              <a:lnSpc>
                <a:spcPts val="2935"/>
              </a:lnSpc>
              <a:buFont typeface="Arial"/>
              <a:buChar char="⚬"/>
            </a:pPr>
            <a:r>
              <a:rPr lang="en-US" sz="1957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Verifies execution success before responding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04141" y="4169986"/>
            <a:ext cx="6412003" cy="3809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797" lvl="1" indent="-217898" algn="l">
              <a:lnSpc>
                <a:spcPts val="3027"/>
              </a:lnSpc>
              <a:buFont typeface="Arial"/>
              <a:buChar char="•"/>
            </a:pPr>
            <a:r>
              <a:rPr lang="en-US" sz="2018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Frontend: HTML, CSS, JavaScript (custom UI for agent interaction)</a:t>
            </a:r>
          </a:p>
          <a:p>
            <a:pPr marL="435797" lvl="1" indent="-217898" algn="l">
              <a:lnSpc>
                <a:spcPts val="3027"/>
              </a:lnSpc>
              <a:buFont typeface="Arial"/>
              <a:buChar char="•"/>
            </a:pPr>
            <a:r>
              <a:rPr lang="en-US" sz="2018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Backend: Python, </a:t>
            </a:r>
            <a:r>
              <a:rPr lang="en-US" sz="2018" dirty="0" err="1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FastAPI</a:t>
            </a:r>
            <a:endParaRPr lang="en-US" sz="2018" dirty="0">
              <a:solidFill>
                <a:srgbClr val="30017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35797" lvl="1" indent="-217898" algn="l">
              <a:lnSpc>
                <a:spcPts val="3027"/>
              </a:lnSpc>
              <a:buFont typeface="Arial"/>
              <a:buChar char="•"/>
            </a:pPr>
            <a:r>
              <a:rPr lang="en-US" sz="2018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Agent Framework: </a:t>
            </a:r>
            <a:r>
              <a:rPr lang="en-US" sz="2018" dirty="0" err="1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LangGraph</a:t>
            </a:r>
            <a:r>
              <a:rPr lang="en-US" sz="2018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(explicit agent state transitions)</a:t>
            </a:r>
          </a:p>
          <a:p>
            <a:pPr marL="435797" lvl="1" indent="-217898" algn="l">
              <a:lnSpc>
                <a:spcPts val="3027"/>
              </a:lnSpc>
              <a:buFont typeface="Arial"/>
              <a:buChar char="•"/>
            </a:pPr>
            <a:r>
              <a:rPr lang="en-US" sz="2018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LLM </a:t>
            </a:r>
            <a:r>
              <a:rPr lang="en-US" sz="2018" dirty="0" err="1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Provider:Google</a:t>
            </a:r>
            <a:r>
              <a:rPr lang="en-US" sz="2018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Vertex AI (Gemini models)</a:t>
            </a:r>
          </a:p>
          <a:p>
            <a:pPr marL="435797" lvl="1" indent="-217898" algn="l">
              <a:lnSpc>
                <a:spcPts val="3027"/>
              </a:lnSpc>
              <a:buFont typeface="Arial"/>
              <a:buChar char="•"/>
            </a:pPr>
            <a:r>
              <a:rPr lang="en-US" sz="2018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State &amp; Scheduling: Deterministic Python logic (task prioritization, time blocking)</a:t>
            </a:r>
          </a:p>
          <a:p>
            <a:pPr marL="435797" lvl="1" indent="-217898" algn="l">
              <a:lnSpc>
                <a:spcPts val="3027"/>
              </a:lnSpc>
              <a:buFont typeface="Arial"/>
              <a:buChar char="•"/>
            </a:pPr>
            <a:r>
              <a:rPr lang="en-US" sz="2018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Observability (Planned): </a:t>
            </a:r>
            <a:r>
              <a:rPr lang="en-US" sz="2018" dirty="0" err="1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Arize</a:t>
            </a:r>
            <a:r>
              <a:rPr lang="en-US" sz="2018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Phoenix / </a:t>
            </a:r>
            <a:r>
              <a:rPr lang="en-US" sz="2018" dirty="0" err="1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Langfuse</a:t>
            </a:r>
            <a:r>
              <a:rPr lang="en-US" sz="2018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for tracing reasoning and tool </a:t>
            </a:r>
            <a:r>
              <a:rPr lang="en-US" sz="2018" dirty="0" err="1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usag</a:t>
            </a:r>
            <a:endParaRPr lang="en-US" sz="2018" dirty="0">
              <a:solidFill>
                <a:srgbClr val="30017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3594896" y="2644090"/>
            <a:ext cx="687779" cy="592474"/>
          </a:xfrm>
          <a:custGeom>
            <a:avLst/>
            <a:gdLst/>
            <a:ahLst/>
            <a:cxnLst/>
            <a:rect l="l" t="t" r="r" b="b"/>
            <a:pathLst>
              <a:path w="687779" h="592474">
                <a:moveTo>
                  <a:pt x="0" y="0"/>
                </a:moveTo>
                <a:lnTo>
                  <a:pt x="687779" y="0"/>
                </a:lnTo>
                <a:lnTo>
                  <a:pt x="687779" y="592475"/>
                </a:lnTo>
                <a:lnTo>
                  <a:pt x="0" y="5924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865"/>
    </mc:Choice>
    <mc:Fallback xmlns="">
      <p:transition spd="slow" advTm="5286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0755" y="-1"/>
            <a:ext cx="16455392" cy="1747025"/>
            <a:chOff x="0" y="57150"/>
            <a:chExt cx="21940523" cy="2788920"/>
          </a:xfrm>
        </p:grpSpPr>
        <p:sp>
          <p:nvSpPr>
            <p:cNvPr id="3" name="Freeform 3"/>
            <p:cNvSpPr/>
            <p:nvPr/>
          </p:nvSpPr>
          <p:spPr>
            <a:xfrm>
              <a:off x="0" y="579862"/>
              <a:ext cx="21940523" cy="2266208"/>
            </a:xfrm>
            <a:custGeom>
              <a:avLst/>
              <a:gdLst/>
              <a:ahLst/>
              <a:cxnLst/>
              <a:rect l="l" t="t" r="r" b="b"/>
              <a:pathLst>
                <a:path w="21940523" h="2846070">
                  <a:moveTo>
                    <a:pt x="0" y="0"/>
                  </a:moveTo>
                  <a:lnTo>
                    <a:pt x="21940523" y="0"/>
                  </a:lnTo>
                  <a:lnTo>
                    <a:pt x="21940523" y="2846070"/>
                  </a:lnTo>
                  <a:lnTo>
                    <a:pt x="0" y="2846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chemeClr val="bg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1940520" cy="2788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30017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Demo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344771" y="1897825"/>
            <a:ext cx="15271040" cy="8341806"/>
          </a:xfrm>
          <a:custGeom>
            <a:avLst/>
            <a:gdLst/>
            <a:ahLst/>
            <a:cxnLst/>
            <a:rect l="l" t="t" r="r" b="b"/>
            <a:pathLst>
              <a:path w="15271040" h="8341806">
                <a:moveTo>
                  <a:pt x="0" y="0"/>
                </a:moveTo>
                <a:lnTo>
                  <a:pt x="15271040" y="0"/>
                </a:lnTo>
                <a:lnTo>
                  <a:pt x="15271040" y="8341806"/>
                </a:lnTo>
                <a:lnTo>
                  <a:pt x="0" y="8341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87432" y="424524"/>
            <a:ext cx="2257425" cy="510450"/>
          </a:xfrm>
          <a:custGeom>
            <a:avLst/>
            <a:gdLst/>
            <a:ahLst/>
            <a:cxnLst/>
            <a:rect l="l" t="t" r="r" b="b"/>
            <a:pathLst>
              <a:path w="2257425" h="510450">
                <a:moveTo>
                  <a:pt x="0" y="0"/>
                </a:moveTo>
                <a:lnTo>
                  <a:pt x="2257425" y="0"/>
                </a:lnTo>
                <a:lnTo>
                  <a:pt x="2257425" y="510450"/>
                </a:lnTo>
                <a:lnTo>
                  <a:pt x="0" y="510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pic>
        <p:nvPicPr>
          <p:cNvPr id="7" name="Picture 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t="4337" b="4739"/>
          <a:stretch>
            <a:fillRect/>
          </a:stretch>
        </p:blipFill>
        <p:spPr>
          <a:xfrm>
            <a:off x="1532294" y="2205656"/>
            <a:ext cx="14895994" cy="7618429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258800" y="9603105"/>
            <a:ext cx="4023360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4891" y="1069050"/>
            <a:ext cx="2837855" cy="72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Video Demo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65572" y="1084579"/>
            <a:ext cx="9379028" cy="554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800" dirty="0">
                <a:solidFill>
                  <a:srgbClr val="300176"/>
                </a:solidFill>
                <a:latin typeface="Canva Sans"/>
                <a:ea typeface="Canva Sans"/>
                <a:cs typeface="Canva Sans"/>
                <a:sym typeface="Canva Sans"/>
              </a:rPr>
              <a:t>Watch the agent plan a real day in seconds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196"/>
    </mc:Choice>
    <mc:Fallback xmlns="">
      <p:transition spd="slow" advTm="122196"/>
    </mc:Fallback>
  </mc:AlternateContent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  <p:extLst>
    <p:ext uri="{E180D4A7-C9FB-4DFB-919C-405C955672EB}">
      <p14:showEvtLst xmlns:p14="http://schemas.microsoft.com/office/powerpoint/2010/main">
        <p14:playEvt time="2626" objId="7"/>
        <p14:stopEvt time="122117" objId="7"/>
      </p14:showEvt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5410" y="727520"/>
            <a:ext cx="16455390" cy="2134552"/>
            <a:chOff x="0" y="0"/>
            <a:chExt cx="21940520" cy="28460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0523" cy="2846070"/>
            </a:xfrm>
            <a:custGeom>
              <a:avLst/>
              <a:gdLst/>
              <a:ahLst/>
              <a:cxnLst/>
              <a:rect l="l" t="t" r="r" b="b"/>
              <a:pathLst>
                <a:path w="21940523" h="2846070">
                  <a:moveTo>
                    <a:pt x="0" y="0"/>
                  </a:moveTo>
                  <a:lnTo>
                    <a:pt x="21940523" y="0"/>
                  </a:lnTo>
                  <a:lnTo>
                    <a:pt x="21940523" y="2846070"/>
                  </a:lnTo>
                  <a:lnTo>
                    <a:pt x="0" y="2846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chemeClr val="bg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1940520" cy="2788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30017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Conclusions and Future Evolutions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3039773"/>
            <a:ext cx="18474319" cy="7247227"/>
            <a:chOff x="0" y="0"/>
            <a:chExt cx="4865664" cy="19087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65664" cy="1908735"/>
            </a:xfrm>
            <a:custGeom>
              <a:avLst/>
              <a:gdLst/>
              <a:ahLst/>
              <a:cxnLst/>
              <a:rect l="l" t="t" r="r" b="b"/>
              <a:pathLst>
                <a:path w="4865664" h="1908735">
                  <a:moveTo>
                    <a:pt x="0" y="0"/>
                  </a:moveTo>
                  <a:lnTo>
                    <a:pt x="4865664" y="0"/>
                  </a:lnTo>
                  <a:lnTo>
                    <a:pt x="4865664" y="1908735"/>
                  </a:lnTo>
                  <a:lnTo>
                    <a:pt x="0" y="1908735"/>
                  </a:lnTo>
                  <a:close/>
                </a:path>
              </a:pathLst>
            </a:custGeom>
            <a:solidFill>
              <a:srgbClr val="300176">
                <a:alpha val="588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65664" cy="1946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4059037"/>
            <a:ext cx="7027075" cy="5718153"/>
            <a:chOff x="0" y="0"/>
            <a:chExt cx="1850752" cy="15060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50752" cy="1506016"/>
            </a:xfrm>
            <a:custGeom>
              <a:avLst/>
              <a:gdLst/>
              <a:ahLst/>
              <a:cxnLst/>
              <a:rect l="l" t="t" r="r" b="b"/>
              <a:pathLst>
                <a:path w="1850752" h="1506016">
                  <a:moveTo>
                    <a:pt x="56188" y="0"/>
                  </a:moveTo>
                  <a:lnTo>
                    <a:pt x="1794564" y="0"/>
                  </a:lnTo>
                  <a:cubicBezTo>
                    <a:pt x="1825596" y="0"/>
                    <a:pt x="1850752" y="25156"/>
                    <a:pt x="1850752" y="56188"/>
                  </a:cubicBezTo>
                  <a:lnTo>
                    <a:pt x="1850752" y="1449827"/>
                  </a:lnTo>
                  <a:cubicBezTo>
                    <a:pt x="1850752" y="1464729"/>
                    <a:pt x="1844833" y="1479021"/>
                    <a:pt x="1834295" y="1489558"/>
                  </a:cubicBezTo>
                  <a:cubicBezTo>
                    <a:pt x="1823758" y="1500096"/>
                    <a:pt x="1809466" y="1506016"/>
                    <a:pt x="1794564" y="1506016"/>
                  </a:cubicBezTo>
                  <a:lnTo>
                    <a:pt x="56188" y="1506016"/>
                  </a:lnTo>
                  <a:cubicBezTo>
                    <a:pt x="41286" y="1506016"/>
                    <a:pt x="26994" y="1500096"/>
                    <a:pt x="16457" y="1489558"/>
                  </a:cubicBezTo>
                  <a:cubicBezTo>
                    <a:pt x="5920" y="1479021"/>
                    <a:pt x="0" y="1464729"/>
                    <a:pt x="0" y="1449827"/>
                  </a:cubicBezTo>
                  <a:lnTo>
                    <a:pt x="0" y="56188"/>
                  </a:lnTo>
                  <a:cubicBezTo>
                    <a:pt x="0" y="41286"/>
                    <a:pt x="5920" y="26994"/>
                    <a:pt x="16457" y="16457"/>
                  </a:cubicBezTo>
                  <a:cubicBezTo>
                    <a:pt x="26994" y="5920"/>
                    <a:pt x="41286" y="0"/>
                    <a:pt x="56188" y="0"/>
                  </a:cubicBezTo>
                  <a:close/>
                </a:path>
              </a:pathLst>
            </a:custGeom>
            <a:solidFill>
              <a:srgbClr val="FFFFFF">
                <a:alpha val="6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50752" cy="1544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258800" y="9603105"/>
            <a:ext cx="4023360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04609" y="4366891"/>
            <a:ext cx="2475257" cy="607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2"/>
              </a:lnSpc>
            </a:pPr>
            <a:r>
              <a:rPr lang="en-US" sz="3551" b="1">
                <a:solidFill>
                  <a:srgbClr val="300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4145" y="5076825"/>
            <a:ext cx="6941630" cy="463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3996" lvl="1" indent="-201998" algn="l">
              <a:lnSpc>
                <a:spcPts val="2806"/>
              </a:lnSpc>
              <a:buFont typeface="Arial"/>
              <a:buChar char="•"/>
            </a:pPr>
            <a:r>
              <a:rPr lang="en-US" sz="1871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We built</a:t>
            </a:r>
            <a:r>
              <a:rPr lang="en-US" sz="1871" b="1" i="1" dirty="0">
                <a:solidFill>
                  <a:srgbClr val="300176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 U-Dot AI</a:t>
            </a:r>
            <a:r>
              <a:rPr lang="en-US" sz="1871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, a true agentic productivity assistant that goes beyond task listing to reason, plan, and act</a:t>
            </a:r>
          </a:p>
          <a:p>
            <a:pPr marL="403996" lvl="1" indent="-201998" algn="l">
              <a:lnSpc>
                <a:spcPts val="2806"/>
              </a:lnSpc>
              <a:buFont typeface="Arial"/>
              <a:buChar char="•"/>
            </a:pPr>
            <a:r>
              <a:rPr lang="en-US" sz="1871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The system combines:</a:t>
            </a:r>
          </a:p>
          <a:p>
            <a:pPr marL="807993" lvl="2" indent="-269331" algn="l">
              <a:lnSpc>
                <a:spcPts val="2806"/>
              </a:lnSpc>
              <a:buFont typeface="Arial"/>
              <a:buChar char="⚬"/>
            </a:pPr>
            <a:r>
              <a:rPr lang="en-US" sz="1871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Natural language understanding</a:t>
            </a:r>
          </a:p>
          <a:p>
            <a:pPr marL="807993" lvl="2" indent="-269331" algn="l">
              <a:lnSpc>
                <a:spcPts val="2806"/>
              </a:lnSpc>
              <a:buFont typeface="Arial"/>
              <a:buChar char="⚬"/>
            </a:pPr>
            <a:r>
              <a:rPr lang="en-US" sz="1871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Deterministic scheduling logic</a:t>
            </a:r>
          </a:p>
          <a:p>
            <a:pPr marL="807993" lvl="2" indent="-269331" algn="l">
              <a:lnSpc>
                <a:spcPts val="2806"/>
              </a:lnSpc>
              <a:buFont typeface="Arial"/>
              <a:buChar char="⚬"/>
            </a:pPr>
            <a:r>
              <a:rPr lang="en-US" sz="1871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Explicit agent reasoning loops</a:t>
            </a:r>
          </a:p>
          <a:p>
            <a:pPr marL="403996" lvl="1" indent="-201998">
              <a:lnSpc>
                <a:spcPts val="2806"/>
              </a:lnSpc>
              <a:buFont typeface="Arial"/>
              <a:buChar char="•"/>
            </a:pPr>
            <a:r>
              <a:rPr lang="en-US" sz="1871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By separating reasoning from execution, </a:t>
            </a:r>
            <a:r>
              <a:rPr lang="en-US" sz="1871" b="1" i="1" dirty="0">
                <a:solidFill>
                  <a:srgbClr val="300176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U-Dot AI </a:t>
            </a:r>
            <a:r>
              <a:rPr lang="en-US" sz="1871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is:</a:t>
            </a:r>
          </a:p>
          <a:p>
            <a:pPr marL="807993" lvl="2" indent="-269331" algn="l">
              <a:lnSpc>
                <a:spcPts val="2806"/>
              </a:lnSpc>
              <a:buFont typeface="Arial"/>
              <a:buChar char="⚬"/>
            </a:pPr>
            <a:r>
              <a:rPr lang="en-US" sz="1871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Transparent</a:t>
            </a:r>
          </a:p>
          <a:p>
            <a:pPr marL="807993" lvl="2" indent="-269331" algn="l">
              <a:lnSpc>
                <a:spcPts val="2806"/>
              </a:lnSpc>
              <a:buFont typeface="Arial"/>
              <a:buChar char="⚬"/>
            </a:pPr>
            <a:r>
              <a:rPr lang="en-US" sz="1871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Predictable</a:t>
            </a:r>
          </a:p>
          <a:p>
            <a:pPr marL="807993" lvl="2" indent="-269331" algn="l">
              <a:lnSpc>
                <a:spcPts val="2806"/>
              </a:lnSpc>
              <a:buFont typeface="Arial"/>
              <a:buChar char="⚬"/>
            </a:pPr>
            <a:r>
              <a:rPr lang="en-US" sz="1871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Trustworthy</a:t>
            </a:r>
          </a:p>
          <a:p>
            <a:pPr marL="403996" lvl="1" indent="-201998" algn="l">
              <a:lnSpc>
                <a:spcPts val="2806"/>
              </a:lnSpc>
              <a:buFont typeface="Arial"/>
              <a:buChar char="•"/>
            </a:pPr>
            <a:r>
              <a:rPr lang="en-US" sz="1871" dirty="0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project demonstrates how modern AI systems can be designed as agents, not chatbots</a:t>
            </a:r>
          </a:p>
          <a:p>
            <a:pPr algn="l">
              <a:lnSpc>
                <a:spcPts val="2806"/>
              </a:lnSpc>
            </a:pPr>
            <a:endParaRPr lang="en-US" sz="1871" dirty="0">
              <a:solidFill>
                <a:srgbClr val="30017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5687432" y="424524"/>
            <a:ext cx="2257425" cy="510450"/>
          </a:xfrm>
          <a:custGeom>
            <a:avLst/>
            <a:gdLst/>
            <a:ahLst/>
            <a:cxnLst/>
            <a:rect l="l" t="t" r="r" b="b"/>
            <a:pathLst>
              <a:path w="2257425" h="510450">
                <a:moveTo>
                  <a:pt x="0" y="0"/>
                </a:moveTo>
                <a:lnTo>
                  <a:pt x="2257425" y="0"/>
                </a:lnTo>
                <a:lnTo>
                  <a:pt x="2257425" y="510450"/>
                </a:lnTo>
                <a:lnTo>
                  <a:pt x="0" y="510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9857895" y="4059037"/>
            <a:ext cx="7027075" cy="5718153"/>
            <a:chOff x="0" y="0"/>
            <a:chExt cx="1850752" cy="15060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0752" cy="1506016"/>
            </a:xfrm>
            <a:custGeom>
              <a:avLst/>
              <a:gdLst/>
              <a:ahLst/>
              <a:cxnLst/>
              <a:rect l="l" t="t" r="r" b="b"/>
              <a:pathLst>
                <a:path w="1850752" h="1506016">
                  <a:moveTo>
                    <a:pt x="56188" y="0"/>
                  </a:moveTo>
                  <a:lnTo>
                    <a:pt x="1794564" y="0"/>
                  </a:lnTo>
                  <a:cubicBezTo>
                    <a:pt x="1825596" y="0"/>
                    <a:pt x="1850752" y="25156"/>
                    <a:pt x="1850752" y="56188"/>
                  </a:cubicBezTo>
                  <a:lnTo>
                    <a:pt x="1850752" y="1449827"/>
                  </a:lnTo>
                  <a:cubicBezTo>
                    <a:pt x="1850752" y="1464729"/>
                    <a:pt x="1844833" y="1479021"/>
                    <a:pt x="1834295" y="1489558"/>
                  </a:cubicBezTo>
                  <a:cubicBezTo>
                    <a:pt x="1823758" y="1500096"/>
                    <a:pt x="1809466" y="1506016"/>
                    <a:pt x="1794564" y="1506016"/>
                  </a:cubicBezTo>
                  <a:lnTo>
                    <a:pt x="56188" y="1506016"/>
                  </a:lnTo>
                  <a:cubicBezTo>
                    <a:pt x="41286" y="1506016"/>
                    <a:pt x="26994" y="1500096"/>
                    <a:pt x="16457" y="1489558"/>
                  </a:cubicBezTo>
                  <a:cubicBezTo>
                    <a:pt x="5920" y="1479021"/>
                    <a:pt x="0" y="1464729"/>
                    <a:pt x="0" y="1449827"/>
                  </a:cubicBezTo>
                  <a:lnTo>
                    <a:pt x="0" y="56188"/>
                  </a:lnTo>
                  <a:cubicBezTo>
                    <a:pt x="0" y="41286"/>
                    <a:pt x="5920" y="26994"/>
                    <a:pt x="16457" y="16457"/>
                  </a:cubicBezTo>
                  <a:cubicBezTo>
                    <a:pt x="26994" y="5920"/>
                    <a:pt x="41286" y="0"/>
                    <a:pt x="56188" y="0"/>
                  </a:cubicBezTo>
                  <a:close/>
                </a:path>
              </a:pathLst>
            </a:custGeom>
            <a:solidFill>
              <a:srgbClr val="FFFFFF">
                <a:alpha val="69804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850752" cy="1544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857895" y="5076825"/>
            <a:ext cx="6801811" cy="3871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6885" lvl="1" indent="-203443" algn="just">
              <a:lnSpc>
                <a:spcPts val="2826"/>
              </a:lnSpc>
              <a:buFont typeface="Arial"/>
              <a:buChar char="•"/>
            </a:pPr>
            <a:r>
              <a:rPr lang="en-US" sz="1884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Calendar Integration : Integrate with real calendar APIs (e.g., Google Calendar) for live scheduling and updates</a:t>
            </a:r>
          </a:p>
          <a:p>
            <a:pPr marL="406885" lvl="1" indent="-203443" algn="just">
              <a:lnSpc>
                <a:spcPts val="2826"/>
              </a:lnSpc>
              <a:buFont typeface="Arial"/>
              <a:buChar char="•"/>
            </a:pPr>
            <a:r>
              <a:rPr lang="en-US" sz="1884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Advanced Self-Reflection &amp; Feedback : Enhance the agent’s ability to explain decisions and learn from user feedback</a:t>
            </a:r>
          </a:p>
          <a:p>
            <a:pPr marL="406885" lvl="1" indent="-203443" algn="just">
              <a:lnSpc>
                <a:spcPts val="2826"/>
              </a:lnSpc>
              <a:buFont typeface="Arial"/>
              <a:buChar char="•"/>
            </a:pPr>
            <a:r>
              <a:rPr lang="en-US" sz="1884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Observability &amp; Monitoring : Add full tracing using tools like Arize Phoenix or Langfuse for reasoning transparency</a:t>
            </a:r>
          </a:p>
          <a:p>
            <a:pPr marL="406885" lvl="1" indent="-203443" algn="just">
              <a:lnSpc>
                <a:spcPts val="2826"/>
              </a:lnSpc>
              <a:buFont typeface="Arial"/>
              <a:buChar char="•"/>
            </a:pPr>
            <a:r>
              <a:rPr lang="en-US" sz="1884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User Support : Extend </a:t>
            </a:r>
            <a:r>
              <a:rPr lang="en-US" sz="1884" b="1" i="1">
                <a:solidFill>
                  <a:srgbClr val="300176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U-Dot AI</a:t>
            </a:r>
            <a:r>
              <a:rPr lang="en-US" sz="1884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to support different user personas such as product managers or team leads</a:t>
            </a:r>
          </a:p>
          <a:p>
            <a:pPr marL="406885" lvl="1" indent="-203443" algn="just">
              <a:lnSpc>
                <a:spcPts val="2826"/>
              </a:lnSpc>
              <a:buFont typeface="Arial"/>
              <a:buChar char="•"/>
            </a:pPr>
            <a:r>
              <a:rPr lang="en-US" sz="1884">
                <a:solidFill>
                  <a:srgbClr val="300176"/>
                </a:solidFill>
                <a:latin typeface="Trebuchet MS"/>
                <a:ea typeface="Trebuchet MS"/>
                <a:cs typeface="Trebuchet MS"/>
                <a:sym typeface="Trebuchet MS"/>
              </a:rPr>
              <a:t> Long-Term Memory &amp; Optimization :  Enable the agent to learn productivity patterns and optimize plans over time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84912" y="4369216"/>
            <a:ext cx="3478887" cy="605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69"/>
              </a:lnSpc>
            </a:pPr>
            <a:r>
              <a:rPr lang="en-US" sz="3549" b="1" dirty="0">
                <a:solidFill>
                  <a:srgbClr val="300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Scopes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375"/>
    </mc:Choice>
    <mc:Fallback xmlns="">
      <p:transition spd="slow" advTm="6037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778</Words>
  <Application>Microsoft Office PowerPoint</Application>
  <PresentationFormat>Custom</PresentationFormat>
  <Paragraphs>122</Paragraphs>
  <Slides>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Trebuchet MS Bold Italics</vt:lpstr>
      <vt:lpstr>Trebuchet MS</vt:lpstr>
      <vt:lpstr>Canva Sans</vt:lpstr>
      <vt:lpstr>Trebuchet MS Bold</vt:lpstr>
      <vt:lpstr>Calibri</vt:lpstr>
      <vt:lpstr>Arial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Amulate- White- Background- Template.pptx</dc:title>
  <dc:creator>Ahmad Zakariya</dc:creator>
  <cp:lastModifiedBy>Ahmad Zakariya</cp:lastModifiedBy>
  <cp:revision>5</cp:revision>
  <dcterms:created xsi:type="dcterms:W3CDTF">2006-08-16T00:00:00Z</dcterms:created>
  <dcterms:modified xsi:type="dcterms:W3CDTF">2026-01-20T11:15:26Z</dcterms:modified>
  <dc:identifier>DAG844FccPc</dc:identifier>
</cp:coreProperties>
</file>